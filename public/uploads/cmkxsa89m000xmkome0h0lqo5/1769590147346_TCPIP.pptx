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Quicksand Bold" charset="1" panose="00000000000000000000"/>
      <p:regular r:id="rId33"/>
    </p:embeddedFont>
    <p:embeddedFont>
      <p:font typeface="Fredoka" charset="1" panose="02000000000000000000"/>
      <p:regular r:id="rId34"/>
    </p:embeddedFont>
    <p:embeddedFont>
      <p:font typeface="Quicksand" charset="1" panose="000000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sohu.com/a/630009938_121124365" TargetMode="External" Type="http://schemas.openxmlformats.org/officeDocument/2006/relationships/hyperlink"/><Relationship Id="rId11" Target="https://yanjingang.com/blog/?p=3469" TargetMode="External" Type="http://schemas.openxmlformats.org/officeDocument/2006/relationships/hyperlink"/><Relationship Id="rId2" Target="https://www.cloudflare.com/zh-cn/learning/ddos/glossary/tcp-ip/" TargetMode="External" Type="http://schemas.openxmlformats.org/officeDocument/2006/relationships/hyperlink"/><Relationship Id="rId3" Target="https://www.techtarget.com/searchnetworking/definition/TCP-IP" TargetMode="External" Type="http://schemas.openxmlformats.org/officeDocument/2006/relationships/hyperlink"/><Relationship Id="rId4" Target="https://www.ibm.com/docs/en/aix/7.1?topic=management-transmission-control-protocolinternet-protocol" TargetMode="External" Type="http://schemas.openxmlformats.org/officeDocument/2006/relationships/hyperlink"/><Relationship Id="rId5" Target="https://www.fortinet.com/resources/cyberglossary/tcp-ip-model-vs-osi-model" TargetMode="External" Type="http://schemas.openxmlformats.org/officeDocument/2006/relationships/hyperlink"/><Relationship Id="rId6" Target="https://www.avg.com/en/signal/what-is-tcp-ip" TargetMode="External" Type="http://schemas.openxmlformats.org/officeDocument/2006/relationships/hyperlink"/><Relationship Id="rId7" Target="https://www.youtube.com/watch?v=2QGgEk20RXM&amp;ab_channel=TechTerms" TargetMode="External" Type="http://schemas.openxmlformats.org/officeDocument/2006/relationships/hyperlink"/><Relationship Id="rId8" Target="https://www.quora.com/What-are-real-life-examples-of-TCP-IP" TargetMode="External" Type="http://schemas.openxmlformats.org/officeDocument/2006/relationships/hyperlink"/><Relationship Id="rId9" Target="https://www.youtube.com/watch?v=3kfO61Mensg&amp;ab_channel=NetworkChuck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5125"/>
            <a:ext cx="16230600" cy="1166314"/>
            <a:chOff x="0" y="0"/>
            <a:chExt cx="4274726" cy="3071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07177"/>
            </a:xfrm>
            <a:custGeom>
              <a:avLst/>
              <a:gdLst/>
              <a:ahLst/>
              <a:cxnLst/>
              <a:rect r="r" b="b" t="t" l="l"/>
              <a:pathLst>
                <a:path h="30717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307177"/>
                  </a:lnTo>
                  <a:lnTo>
                    <a:pt x="0" y="3071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4274726" cy="41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</a:pPr>
              <a:r>
                <a:rPr lang="en-US" b="true" sz="5099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Final Group Assignment --- TCP/IP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81208" y="4448175"/>
            <a:ext cx="1052558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FF3131"/>
                </a:solidFill>
                <a:latin typeface="Fredoka"/>
                <a:ea typeface="Fredoka"/>
                <a:cs typeface="Fredoka"/>
                <a:sym typeface="Fredoka"/>
              </a:rPr>
              <a:t>TCP/IP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207517"/>
            <a:ext cx="16230600" cy="1945993"/>
            <a:chOff x="0" y="0"/>
            <a:chExt cx="4274726" cy="5125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512525"/>
            </a:xfrm>
            <a:custGeom>
              <a:avLst/>
              <a:gdLst/>
              <a:ahLst/>
              <a:cxnLst/>
              <a:rect r="r" b="b" t="t" l="l"/>
              <a:pathLst>
                <a:path h="512525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512525"/>
                  </a:lnTo>
                  <a:lnTo>
                    <a:pt x="0" y="5125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4274726" cy="61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719"/>
                </a:lnSpc>
              </a:pPr>
              <a:r>
                <a:rPr lang="en-US" sz="4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Team Member：Tan Xian Chuan，Liang Sze Kai，Derrick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0908772" y="3978227"/>
            <a:ext cx="10707063" cy="8458580"/>
          </a:xfrm>
          <a:custGeom>
            <a:avLst/>
            <a:gdLst/>
            <a:ahLst/>
            <a:cxnLst/>
            <a:rect r="r" b="b" t="t" l="l"/>
            <a:pathLst>
              <a:path h="8458580" w="10707063">
                <a:moveTo>
                  <a:pt x="0" y="0"/>
                </a:moveTo>
                <a:lnTo>
                  <a:pt x="10707063" y="0"/>
                </a:lnTo>
                <a:lnTo>
                  <a:pt x="10707063" y="8458580"/>
                </a:lnTo>
                <a:lnTo>
                  <a:pt x="0" y="845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2621381"/>
            <a:ext cx="4802991" cy="5044237"/>
          </a:xfrm>
          <a:custGeom>
            <a:avLst/>
            <a:gdLst/>
            <a:ahLst/>
            <a:cxnLst/>
            <a:rect r="r" b="b" t="t" l="l"/>
            <a:pathLst>
              <a:path h="5044237" w="4802991">
                <a:moveTo>
                  <a:pt x="0" y="0"/>
                </a:moveTo>
                <a:lnTo>
                  <a:pt x="4802991" y="0"/>
                </a:lnTo>
                <a:lnTo>
                  <a:pt x="4802991" y="5044238"/>
                </a:lnTo>
                <a:lnTo>
                  <a:pt x="0" y="5044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29983" y="2636302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8675" y="228165"/>
            <a:ext cx="15478125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>
                <a:solidFill>
                  <a:srgbClr val="9FCDFF"/>
                </a:solidFill>
                <a:latin typeface="Fredoka"/>
                <a:ea typeface="Fredoka"/>
                <a:cs typeface="Fredoka"/>
                <a:sym typeface="Fredoka"/>
              </a:rPr>
              <a:t>INTRODUCTION OF TCP/IP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86933" y="1460133"/>
            <a:ext cx="15382282" cy="1107758"/>
            <a:chOff x="0" y="0"/>
            <a:chExt cx="20509710" cy="147701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5911585" y="0"/>
              <a:ext cx="8619954" cy="1477010"/>
              <a:chOff x="0" y="0"/>
              <a:chExt cx="1702707" cy="29175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2707" cy="291755"/>
              </a:xfrm>
              <a:custGeom>
                <a:avLst/>
                <a:gdLst/>
                <a:ahLst/>
                <a:cxnLst/>
                <a:rect r="r" b="b" t="t" l="l"/>
                <a:pathLst>
                  <a:path h="291755" w="1702707">
                    <a:moveTo>
                      <a:pt x="0" y="0"/>
                    </a:moveTo>
                    <a:lnTo>
                      <a:pt x="1702707" y="0"/>
                    </a:lnTo>
                    <a:lnTo>
                      <a:pt x="1702707" y="291755"/>
                    </a:lnTo>
                    <a:lnTo>
                      <a:pt x="0" y="29175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702707" cy="329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248920"/>
              <a:ext cx="20509710" cy="964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sz="41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What is TCP/IP ？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4929" y="2787668"/>
            <a:ext cx="16742519" cy="7269986"/>
            <a:chOff x="0" y="0"/>
            <a:chExt cx="4409552" cy="1914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09552" cy="1914729"/>
            </a:xfrm>
            <a:custGeom>
              <a:avLst/>
              <a:gdLst/>
              <a:ahLst/>
              <a:cxnLst/>
              <a:rect r="r" b="b" t="t" l="l"/>
              <a:pathLst>
                <a:path h="1914729" w="4409552">
                  <a:moveTo>
                    <a:pt x="0" y="0"/>
                  </a:moveTo>
                  <a:lnTo>
                    <a:pt x="4409552" y="0"/>
                  </a:lnTo>
                  <a:lnTo>
                    <a:pt x="4409552" y="1914729"/>
                  </a:lnTo>
                  <a:lnTo>
                    <a:pt x="0" y="19147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4409552" cy="1990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TCP/IP stands for Transmission Control Protocol / Internet Protocol. It is a suite of communication protocols used to interconnect network devices on the internet or local networks.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BD59"/>
                  </a:solidFill>
                  <a:latin typeface="Quicksand"/>
                  <a:ea typeface="Quicksand"/>
                  <a:cs typeface="Quicksand"/>
                  <a:sym typeface="Quicksand"/>
                </a:rPr>
                <a:t>(TCP/IP代表传输控制协议/互联网协议。它是一套用于在互联网或本地网络上互连网络设备的通信协议)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 suite of communication protocols used to connect devices on the internet.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用于连接 Internet 上的设备的一套通信协议。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Enables data transmission between devices.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设备之间的数据传输。 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48749" y="1028700"/>
            <a:ext cx="10715625" cy="8229600"/>
            <a:chOff x="0" y="0"/>
            <a:chExt cx="282222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2222" cy="2167467"/>
            </a:xfrm>
            <a:custGeom>
              <a:avLst/>
              <a:gdLst/>
              <a:ahLst/>
              <a:cxnLst/>
              <a:rect r="r" b="b" t="t" l="l"/>
              <a:pathLst>
                <a:path h="2167467" w="2822222">
                  <a:moveTo>
                    <a:pt x="0" y="0"/>
                  </a:moveTo>
                  <a:lnTo>
                    <a:pt x="2822222" y="0"/>
                  </a:lnTo>
                  <a:lnTo>
                    <a:pt x="282222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22222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54067" y="7362527"/>
            <a:ext cx="9904989" cy="1524000"/>
            <a:chOff x="0" y="0"/>
            <a:chExt cx="2608721" cy="401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08721" cy="401383"/>
            </a:xfrm>
            <a:custGeom>
              <a:avLst/>
              <a:gdLst/>
              <a:ahLst/>
              <a:cxnLst/>
              <a:rect r="r" b="b" t="t" l="l"/>
              <a:pathLst>
                <a:path h="401383" w="2608721">
                  <a:moveTo>
                    <a:pt x="0" y="0"/>
                  </a:moveTo>
                  <a:lnTo>
                    <a:pt x="2608721" y="0"/>
                  </a:lnTo>
                  <a:lnTo>
                    <a:pt x="2608721" y="401383"/>
                  </a:lnTo>
                  <a:lnTo>
                    <a:pt x="0" y="401383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08721" cy="43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55899" y="1049655"/>
            <a:ext cx="10301323" cy="808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1. TCP is responsible for reliable data transmission between devices. </a:t>
            </a:r>
          </a:p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 (TCP负责设备之间的可靠数据传输) </a:t>
            </a:r>
          </a:p>
          <a:p>
            <a:pPr algn="l">
              <a:lnSpc>
                <a:spcPts val="5399"/>
              </a:lnSpc>
            </a:pPr>
          </a:p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2. IP is responsible for addressing and routing packets of data so that they reach the correct destination.</a:t>
            </a:r>
          </a:p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(IP负责数据的寻址和路由，确保数据包到达正确的目的地)</a:t>
            </a:r>
          </a:p>
          <a:p>
            <a:pPr algn="l" marL="0" indent="0" lvl="0">
              <a:lnSpc>
                <a:spcPts val="53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3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539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32978" y="4424798"/>
            <a:ext cx="5304893" cy="2937729"/>
            <a:chOff x="0" y="0"/>
            <a:chExt cx="7073191" cy="3916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6639" cy="3530514"/>
            </a:xfrm>
            <a:custGeom>
              <a:avLst/>
              <a:gdLst/>
              <a:ahLst/>
              <a:cxnLst/>
              <a:rect r="r" b="b" t="t" l="l"/>
              <a:pathLst>
                <a:path h="3530514" w="2766639">
                  <a:moveTo>
                    <a:pt x="0" y="0"/>
                  </a:moveTo>
                  <a:lnTo>
                    <a:pt x="2766639" y="0"/>
                  </a:lnTo>
                  <a:lnTo>
                    <a:pt x="2766639" y="3530514"/>
                  </a:lnTo>
                  <a:lnTo>
                    <a:pt x="0" y="3530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0">
              <a:off x="4306551" y="386457"/>
              <a:ext cx="2766639" cy="3530514"/>
            </a:xfrm>
            <a:custGeom>
              <a:avLst/>
              <a:gdLst/>
              <a:ahLst/>
              <a:cxnLst/>
              <a:rect r="r" b="b" t="t" l="l"/>
              <a:pathLst>
                <a:path h="3530514" w="2766639">
                  <a:moveTo>
                    <a:pt x="2766640" y="0"/>
                  </a:moveTo>
                  <a:lnTo>
                    <a:pt x="0" y="0"/>
                  </a:lnTo>
                  <a:lnTo>
                    <a:pt x="0" y="3530515"/>
                  </a:lnTo>
                  <a:lnTo>
                    <a:pt x="2766640" y="3530515"/>
                  </a:lnTo>
                  <a:lnTo>
                    <a:pt x="276664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53976" y="3328542"/>
              <a:ext cx="2234595" cy="361835"/>
            </a:xfrm>
            <a:custGeom>
              <a:avLst/>
              <a:gdLst/>
              <a:ahLst/>
              <a:cxnLst/>
              <a:rect r="r" b="b" t="t" l="l"/>
              <a:pathLst>
                <a:path h="361835" w="2234595">
                  <a:moveTo>
                    <a:pt x="0" y="0"/>
                  </a:moveTo>
                  <a:lnTo>
                    <a:pt x="2234595" y="0"/>
                  </a:lnTo>
                  <a:lnTo>
                    <a:pt x="2234595" y="361835"/>
                  </a:lnTo>
                  <a:lnTo>
                    <a:pt x="0" y="361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175276" y="3530514"/>
              <a:ext cx="2181906" cy="361835"/>
            </a:xfrm>
            <a:custGeom>
              <a:avLst/>
              <a:gdLst/>
              <a:ahLst/>
              <a:cxnLst/>
              <a:rect r="r" b="b" t="t" l="l"/>
              <a:pathLst>
                <a:path h="361835" w="2181906">
                  <a:moveTo>
                    <a:pt x="0" y="0"/>
                  </a:moveTo>
                  <a:lnTo>
                    <a:pt x="2181906" y="0"/>
                  </a:lnTo>
                  <a:lnTo>
                    <a:pt x="2181906" y="361835"/>
                  </a:lnTo>
                  <a:lnTo>
                    <a:pt x="0" y="361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-2414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35117" y="1469476"/>
            <a:ext cx="5700615" cy="174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0"/>
              </a:lnSpc>
            </a:pPr>
            <a:r>
              <a:rPr lang="en-US" sz="5007">
                <a:solidFill>
                  <a:srgbClr val="9FCDFF"/>
                </a:solidFill>
                <a:latin typeface="Fredoka"/>
                <a:ea typeface="Fredoka"/>
                <a:cs typeface="Fredoka"/>
                <a:sym typeface="Fredoka"/>
              </a:rPr>
              <a:t>KEY PROTOCOLS OF TCP/IP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42884" y="4823800"/>
            <a:ext cx="7416416" cy="2571750"/>
            <a:chOff x="0" y="0"/>
            <a:chExt cx="1953295" cy="677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3295" cy="677333"/>
            </a:xfrm>
            <a:custGeom>
              <a:avLst/>
              <a:gdLst/>
              <a:ahLst/>
              <a:cxnLst/>
              <a:rect r="r" b="b" t="t" l="l"/>
              <a:pathLst>
                <a:path h="677333" w="1953295">
                  <a:moveTo>
                    <a:pt x="0" y="0"/>
                  </a:moveTo>
                  <a:lnTo>
                    <a:pt x="1953295" y="0"/>
                  </a:lnTo>
                  <a:lnTo>
                    <a:pt x="1953295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3295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42884" y="7614625"/>
            <a:ext cx="7416416" cy="2571750"/>
            <a:chOff x="0" y="0"/>
            <a:chExt cx="1953295" cy="677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3295" cy="677333"/>
            </a:xfrm>
            <a:custGeom>
              <a:avLst/>
              <a:gdLst/>
              <a:ahLst/>
              <a:cxnLst/>
              <a:rect r="r" b="b" t="t" l="l"/>
              <a:pathLst>
                <a:path h="677333" w="1953295">
                  <a:moveTo>
                    <a:pt x="0" y="0"/>
                  </a:moveTo>
                  <a:lnTo>
                    <a:pt x="1953295" y="0"/>
                  </a:lnTo>
                  <a:lnTo>
                    <a:pt x="1953295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53295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7709" y="4823800"/>
            <a:ext cx="7413876" cy="2571750"/>
            <a:chOff x="0" y="0"/>
            <a:chExt cx="1952626" cy="677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2626" cy="677333"/>
            </a:xfrm>
            <a:custGeom>
              <a:avLst/>
              <a:gdLst/>
              <a:ahLst/>
              <a:cxnLst/>
              <a:rect r="r" b="b" t="t" l="l"/>
              <a:pathLst>
                <a:path h="677333" w="1952626">
                  <a:moveTo>
                    <a:pt x="0" y="0"/>
                  </a:moveTo>
                  <a:lnTo>
                    <a:pt x="1952626" y="0"/>
                  </a:lnTo>
                  <a:lnTo>
                    <a:pt x="1952626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52626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7709" y="7614625"/>
            <a:ext cx="7413876" cy="2571750"/>
            <a:chOff x="0" y="0"/>
            <a:chExt cx="1952626" cy="677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2626" cy="677333"/>
            </a:xfrm>
            <a:custGeom>
              <a:avLst/>
              <a:gdLst/>
              <a:ahLst/>
              <a:cxnLst/>
              <a:rect r="r" b="b" t="t" l="l"/>
              <a:pathLst>
                <a:path h="677333" w="1952626">
                  <a:moveTo>
                    <a:pt x="0" y="0"/>
                  </a:moveTo>
                  <a:lnTo>
                    <a:pt x="1952626" y="0"/>
                  </a:lnTo>
                  <a:lnTo>
                    <a:pt x="1952626" y="677333"/>
                  </a:lnTo>
                  <a:lnTo>
                    <a:pt x="0" y="677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52626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7709" y="2022444"/>
            <a:ext cx="16461591" cy="2579604"/>
            <a:chOff x="0" y="0"/>
            <a:chExt cx="4335563" cy="6794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5563" cy="679402"/>
            </a:xfrm>
            <a:custGeom>
              <a:avLst/>
              <a:gdLst/>
              <a:ahLst/>
              <a:cxnLst/>
              <a:rect r="r" b="b" t="t" l="l"/>
              <a:pathLst>
                <a:path h="679402" w="4335563">
                  <a:moveTo>
                    <a:pt x="0" y="0"/>
                  </a:moveTo>
                  <a:lnTo>
                    <a:pt x="4335563" y="0"/>
                  </a:lnTo>
                  <a:lnTo>
                    <a:pt x="4335563" y="679402"/>
                  </a:lnTo>
                  <a:lnTo>
                    <a:pt x="0" y="6794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335563" cy="736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TCP/IP model is a conceptual framework (like a layered model) that describes how different protocols interact in the network communication process. It consists of four layers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</a:t>
              </a:r>
              <a:r>
                <a:rPr lang="en-US" sz="2999">
                  <a:solidFill>
                    <a:srgbClr val="FFBD59"/>
                  </a:solidFill>
                  <a:latin typeface="Quicksand"/>
                  <a:ea typeface="Quicksand"/>
                  <a:cs typeface="Quicksand"/>
                  <a:sym typeface="Quicksand"/>
                </a:rPr>
                <a:t>(TCP/IP模型是一个概念框架（类似于分层模型），它描述了不同协议在网络通信过程中的交互方式)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04938" y="378429"/>
            <a:ext cx="15478125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>
                <a:solidFill>
                  <a:srgbClr val="9FCDFF"/>
                </a:solidFill>
                <a:latin typeface="Fredoka"/>
                <a:ea typeface="Fredoka"/>
                <a:cs typeface="Fredoka"/>
                <a:sym typeface="Fredoka"/>
              </a:rPr>
              <a:t>WHAT IS THE TCP/IP MODEL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69361" y="5026773"/>
            <a:ext cx="7189939" cy="25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Internet Layer – Handles addressing and routing</a:t>
            </a:r>
          </a:p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(处理寻址和路由) (e.g., IP, ICMP)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842884" y="7723822"/>
            <a:ext cx="7416416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1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Network Access Layer – Responsible for physical data transmission</a:t>
            </a:r>
          </a:p>
          <a:p>
            <a:pPr algn="ctr">
              <a:lnSpc>
                <a:spcPts val="4799"/>
              </a:lnSpc>
            </a:pPr>
            <a:r>
              <a:rPr lang="en-US" sz="3199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(负责物理数据传输) (e.g., Ethernet, Wi-Fi)</a:t>
            </a:r>
          </a:p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35591" y="4841898"/>
            <a:ext cx="6338111" cy="297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173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Application Layer – Deals with application-level functions</a:t>
            </a:r>
          </a:p>
          <a:p>
            <a:pPr algn="l">
              <a:lnSpc>
                <a:spcPts val="4760"/>
              </a:lnSpc>
            </a:pPr>
            <a:r>
              <a:rPr lang="en-US" sz="3173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(处理应用程序级功能)(e.g., HTTP, FTP, DNS, SMTP)</a:t>
            </a:r>
          </a:p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97709" y="7940431"/>
            <a:ext cx="7413876" cy="241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9"/>
              </a:lnSpc>
            </a:pPr>
            <a:r>
              <a:rPr lang="en-US" sz="33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Transport Layer – Ensures reliable data delivery</a:t>
            </a:r>
          </a:p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3131"/>
                </a:solidFill>
                <a:latin typeface="Quicksand"/>
                <a:ea typeface="Quicksand"/>
                <a:cs typeface="Quicksand"/>
                <a:sym typeface="Quicksand"/>
              </a:rPr>
              <a:t>(确保可靠的数据交付) (e.g., TCP, UDP)</a:t>
            </a: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552" y="2288105"/>
            <a:ext cx="17010667" cy="7652754"/>
            <a:chOff x="0" y="0"/>
            <a:chExt cx="4480176" cy="20155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0176" cy="2015540"/>
            </a:xfrm>
            <a:custGeom>
              <a:avLst/>
              <a:gdLst/>
              <a:ahLst/>
              <a:cxnLst/>
              <a:rect r="r" b="b" t="t" l="l"/>
              <a:pathLst>
                <a:path h="2015540" w="4480176">
                  <a:moveTo>
                    <a:pt x="0" y="0"/>
                  </a:moveTo>
                  <a:lnTo>
                    <a:pt x="4480176" y="0"/>
                  </a:lnTo>
                  <a:lnTo>
                    <a:pt x="4480176" y="2015540"/>
                  </a:lnTo>
                  <a:lnTo>
                    <a:pt x="0" y="20155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0176" cy="2053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0552" y="2288105"/>
          <a:ext cx="17010667" cy="4638923"/>
        </p:xfrm>
        <a:graphic>
          <a:graphicData uri="http://schemas.openxmlformats.org/drawingml/2006/table">
            <a:tbl>
              <a:tblPr/>
              <a:tblGrid>
                <a:gridCol w="7914688"/>
                <a:gridCol w="9095979"/>
              </a:tblGrid>
              <a:tr h="13284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b="true" sz="2999" u="sng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Term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b="true" sz="2999" u="sng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65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TCP/IP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This actual Protocol suite (a set of networking protocols).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  <a:r>
                        <a:rPr lang="en-US" sz="2399">
                          <a:solidFill>
                            <a:srgbClr val="FF313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（实际的协议套件（一组网络协议））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39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TCP/IP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The theoretical framework of model describing how TCP/IP protocols work.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>
                          <a:solidFill>
                            <a:srgbClr val="FF313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(描述TCP/IP协议如何工作的理论框架或模型)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60552" y="69415"/>
            <a:ext cx="1701066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9FCDFF"/>
                </a:solidFill>
                <a:latin typeface="Fredoka"/>
                <a:ea typeface="Fredoka"/>
                <a:cs typeface="Fredoka"/>
                <a:sym typeface="Fredoka"/>
              </a:rPr>
              <a:t>WHAT'</a:t>
            </a:r>
            <a:r>
              <a:rPr lang="en-US" sz="6399">
                <a:solidFill>
                  <a:srgbClr val="9FCDFF"/>
                </a:solidFill>
                <a:latin typeface="Fredoka"/>
                <a:ea typeface="Fredoka"/>
                <a:cs typeface="Fredoka"/>
                <a:sym typeface="Fredoka"/>
              </a:rPr>
              <a:t>S THE DIFFERENCE BETWEEN TCP/IP AND THE TCP/IP MODEL?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6707" y="7556494"/>
            <a:ext cx="16218358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You can think of it this way: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•TCP/IP is like the car (what actually moves data).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•The TCP/IP model is like the blueprint that shows how the car works.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C0B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793059"/>
            <a:ext cx="18288000" cy="8493941"/>
            <a:chOff x="0" y="0"/>
            <a:chExt cx="4816593" cy="22370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237087"/>
            </a:xfrm>
            <a:custGeom>
              <a:avLst/>
              <a:gdLst/>
              <a:ahLst/>
              <a:cxnLst/>
              <a:rect r="r" b="b" t="t" l="l"/>
              <a:pathLst>
                <a:path h="22370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237087"/>
                  </a:lnTo>
                  <a:lnTo>
                    <a:pt x="0" y="22370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275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793059"/>
            <a:ext cx="4332948" cy="4246970"/>
            <a:chOff x="0" y="0"/>
            <a:chExt cx="1141188" cy="1118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1188" cy="1118544"/>
            </a:xfrm>
            <a:custGeom>
              <a:avLst/>
              <a:gdLst/>
              <a:ahLst/>
              <a:cxnLst/>
              <a:rect r="r" b="b" t="t" l="l"/>
              <a:pathLst>
                <a:path h="1118544" w="1141188">
                  <a:moveTo>
                    <a:pt x="91125" y="0"/>
                  </a:moveTo>
                  <a:lnTo>
                    <a:pt x="1050063" y="0"/>
                  </a:lnTo>
                  <a:cubicBezTo>
                    <a:pt x="1100390" y="0"/>
                    <a:pt x="1141188" y="40798"/>
                    <a:pt x="1141188" y="91125"/>
                  </a:cubicBezTo>
                  <a:lnTo>
                    <a:pt x="1141188" y="1027419"/>
                  </a:lnTo>
                  <a:cubicBezTo>
                    <a:pt x="1141188" y="1077746"/>
                    <a:pt x="1100390" y="1118544"/>
                    <a:pt x="1050063" y="1118544"/>
                  </a:cubicBezTo>
                  <a:lnTo>
                    <a:pt x="91125" y="1118544"/>
                  </a:lnTo>
                  <a:cubicBezTo>
                    <a:pt x="66957" y="1118544"/>
                    <a:pt x="43779" y="1108943"/>
                    <a:pt x="26690" y="1091854"/>
                  </a:cubicBezTo>
                  <a:cubicBezTo>
                    <a:pt x="9601" y="1074765"/>
                    <a:pt x="0" y="1051587"/>
                    <a:pt x="0" y="1027419"/>
                  </a:cubicBezTo>
                  <a:lnTo>
                    <a:pt x="0" y="91125"/>
                  </a:lnTo>
                  <a:cubicBezTo>
                    <a:pt x="0" y="40798"/>
                    <a:pt x="40798" y="0"/>
                    <a:pt x="91125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41188" cy="1185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</a:p>
            <a:p>
              <a:pPr algn="ctr">
                <a:lnSpc>
                  <a:spcPts val="48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30892" y="1793059"/>
            <a:ext cx="4329332" cy="4246970"/>
            <a:chOff x="0" y="0"/>
            <a:chExt cx="1140236" cy="11185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0236" cy="1118544"/>
            </a:xfrm>
            <a:custGeom>
              <a:avLst/>
              <a:gdLst/>
              <a:ahLst/>
              <a:cxnLst/>
              <a:rect r="r" b="b" t="t" l="l"/>
              <a:pathLst>
                <a:path h="1118544" w="1140236">
                  <a:moveTo>
                    <a:pt x="91201" y="0"/>
                  </a:moveTo>
                  <a:lnTo>
                    <a:pt x="1049035" y="0"/>
                  </a:lnTo>
                  <a:cubicBezTo>
                    <a:pt x="1099404" y="0"/>
                    <a:pt x="1140236" y="40832"/>
                    <a:pt x="1140236" y="91201"/>
                  </a:cubicBezTo>
                  <a:lnTo>
                    <a:pt x="1140236" y="1027343"/>
                  </a:lnTo>
                  <a:cubicBezTo>
                    <a:pt x="1140236" y="1051531"/>
                    <a:pt x="1130627" y="1074728"/>
                    <a:pt x="1113524" y="1091832"/>
                  </a:cubicBezTo>
                  <a:cubicBezTo>
                    <a:pt x="1096420" y="1108935"/>
                    <a:pt x="1073223" y="1118544"/>
                    <a:pt x="1049035" y="1118544"/>
                  </a:cubicBezTo>
                  <a:lnTo>
                    <a:pt x="91201" y="1118544"/>
                  </a:lnTo>
                  <a:cubicBezTo>
                    <a:pt x="67013" y="1118544"/>
                    <a:pt x="43815" y="1108935"/>
                    <a:pt x="26712" y="1091832"/>
                  </a:cubicBezTo>
                  <a:cubicBezTo>
                    <a:pt x="9609" y="1074728"/>
                    <a:pt x="0" y="1051531"/>
                    <a:pt x="0" y="1027343"/>
                  </a:cubicBezTo>
                  <a:lnTo>
                    <a:pt x="0" y="91201"/>
                  </a:lnTo>
                  <a:cubicBezTo>
                    <a:pt x="0" y="67013"/>
                    <a:pt x="9609" y="43815"/>
                    <a:pt x="26712" y="26712"/>
                  </a:cubicBezTo>
                  <a:cubicBezTo>
                    <a:pt x="43815" y="9609"/>
                    <a:pt x="67013" y="0"/>
                    <a:pt x="91201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40236" cy="1166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58168" y="1794631"/>
            <a:ext cx="4322538" cy="4246970"/>
            <a:chOff x="0" y="0"/>
            <a:chExt cx="1138446" cy="11185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8446" cy="1118544"/>
            </a:xfrm>
            <a:custGeom>
              <a:avLst/>
              <a:gdLst/>
              <a:ahLst/>
              <a:cxnLst/>
              <a:rect r="r" b="b" t="t" l="l"/>
              <a:pathLst>
                <a:path h="1118544" w="1138446">
                  <a:moveTo>
                    <a:pt x="91344" y="0"/>
                  </a:moveTo>
                  <a:lnTo>
                    <a:pt x="1047102" y="0"/>
                  </a:lnTo>
                  <a:cubicBezTo>
                    <a:pt x="1071328" y="0"/>
                    <a:pt x="1094562" y="9624"/>
                    <a:pt x="1111692" y="26754"/>
                  </a:cubicBezTo>
                  <a:cubicBezTo>
                    <a:pt x="1128823" y="43884"/>
                    <a:pt x="1138446" y="67118"/>
                    <a:pt x="1138446" y="91344"/>
                  </a:cubicBezTo>
                  <a:lnTo>
                    <a:pt x="1138446" y="1027200"/>
                  </a:lnTo>
                  <a:cubicBezTo>
                    <a:pt x="1138446" y="1077648"/>
                    <a:pt x="1097550" y="1118544"/>
                    <a:pt x="1047102" y="1118544"/>
                  </a:cubicBezTo>
                  <a:lnTo>
                    <a:pt x="91344" y="1118544"/>
                  </a:lnTo>
                  <a:cubicBezTo>
                    <a:pt x="40896" y="1118544"/>
                    <a:pt x="0" y="1077648"/>
                    <a:pt x="0" y="1027200"/>
                  </a:cubicBezTo>
                  <a:lnTo>
                    <a:pt x="0" y="91344"/>
                  </a:lnTo>
                  <a:cubicBezTo>
                    <a:pt x="0" y="40896"/>
                    <a:pt x="40896" y="0"/>
                    <a:pt x="91344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38446" cy="1156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58168" y="6040030"/>
            <a:ext cx="4298161" cy="4246970"/>
            <a:chOff x="0" y="0"/>
            <a:chExt cx="1132026" cy="1118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2026" cy="1118544"/>
            </a:xfrm>
            <a:custGeom>
              <a:avLst/>
              <a:gdLst/>
              <a:ahLst/>
              <a:cxnLst/>
              <a:rect r="r" b="b" t="t" l="l"/>
              <a:pathLst>
                <a:path h="1118544" w="1132026">
                  <a:moveTo>
                    <a:pt x="91862" y="0"/>
                  </a:moveTo>
                  <a:lnTo>
                    <a:pt x="1040164" y="0"/>
                  </a:lnTo>
                  <a:cubicBezTo>
                    <a:pt x="1090898" y="0"/>
                    <a:pt x="1132026" y="41128"/>
                    <a:pt x="1132026" y="91862"/>
                  </a:cubicBezTo>
                  <a:lnTo>
                    <a:pt x="1132026" y="1026682"/>
                  </a:lnTo>
                  <a:cubicBezTo>
                    <a:pt x="1132026" y="1051045"/>
                    <a:pt x="1122348" y="1074410"/>
                    <a:pt x="1105120" y="1091638"/>
                  </a:cubicBezTo>
                  <a:cubicBezTo>
                    <a:pt x="1087893" y="1108865"/>
                    <a:pt x="1064527" y="1118544"/>
                    <a:pt x="1040164" y="1118544"/>
                  </a:cubicBezTo>
                  <a:lnTo>
                    <a:pt x="91862" y="1118544"/>
                  </a:lnTo>
                  <a:cubicBezTo>
                    <a:pt x="67499" y="1118544"/>
                    <a:pt x="44133" y="1108865"/>
                    <a:pt x="26906" y="1091638"/>
                  </a:cubicBezTo>
                  <a:cubicBezTo>
                    <a:pt x="9678" y="1074410"/>
                    <a:pt x="0" y="1051045"/>
                    <a:pt x="0" y="1026682"/>
                  </a:cubicBezTo>
                  <a:lnTo>
                    <a:pt x="0" y="91862"/>
                  </a:lnTo>
                  <a:cubicBezTo>
                    <a:pt x="0" y="41128"/>
                    <a:pt x="41128" y="0"/>
                    <a:pt x="91862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32026" cy="1156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76411" y="6040030"/>
            <a:ext cx="4329332" cy="4246970"/>
            <a:chOff x="0" y="0"/>
            <a:chExt cx="1140236" cy="11185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0236" cy="1118544"/>
            </a:xfrm>
            <a:custGeom>
              <a:avLst/>
              <a:gdLst/>
              <a:ahLst/>
              <a:cxnLst/>
              <a:rect r="r" b="b" t="t" l="l"/>
              <a:pathLst>
                <a:path h="1118544" w="1140236">
                  <a:moveTo>
                    <a:pt x="91201" y="0"/>
                  </a:moveTo>
                  <a:lnTo>
                    <a:pt x="1049035" y="0"/>
                  </a:lnTo>
                  <a:cubicBezTo>
                    <a:pt x="1099404" y="0"/>
                    <a:pt x="1140236" y="40832"/>
                    <a:pt x="1140236" y="91201"/>
                  </a:cubicBezTo>
                  <a:lnTo>
                    <a:pt x="1140236" y="1027343"/>
                  </a:lnTo>
                  <a:cubicBezTo>
                    <a:pt x="1140236" y="1051531"/>
                    <a:pt x="1130627" y="1074728"/>
                    <a:pt x="1113524" y="1091832"/>
                  </a:cubicBezTo>
                  <a:cubicBezTo>
                    <a:pt x="1096420" y="1108935"/>
                    <a:pt x="1073223" y="1118544"/>
                    <a:pt x="1049035" y="1118544"/>
                  </a:cubicBezTo>
                  <a:lnTo>
                    <a:pt x="91201" y="1118544"/>
                  </a:lnTo>
                  <a:cubicBezTo>
                    <a:pt x="67013" y="1118544"/>
                    <a:pt x="43815" y="1108935"/>
                    <a:pt x="26712" y="1091832"/>
                  </a:cubicBezTo>
                  <a:cubicBezTo>
                    <a:pt x="9609" y="1074728"/>
                    <a:pt x="0" y="1051531"/>
                    <a:pt x="0" y="1027343"/>
                  </a:cubicBezTo>
                  <a:lnTo>
                    <a:pt x="0" y="91201"/>
                  </a:lnTo>
                  <a:cubicBezTo>
                    <a:pt x="0" y="67013"/>
                    <a:pt x="9609" y="43815"/>
                    <a:pt x="26712" y="26712"/>
                  </a:cubicBezTo>
                  <a:cubicBezTo>
                    <a:pt x="43815" y="9609"/>
                    <a:pt x="67013" y="0"/>
                    <a:pt x="91201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0236" cy="1156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50793" y="6040030"/>
            <a:ext cx="4483741" cy="4246970"/>
            <a:chOff x="0" y="0"/>
            <a:chExt cx="1180903" cy="1118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0903" cy="1118544"/>
            </a:xfrm>
            <a:custGeom>
              <a:avLst/>
              <a:gdLst/>
              <a:ahLst/>
              <a:cxnLst/>
              <a:rect r="r" b="b" t="t" l="l"/>
              <a:pathLst>
                <a:path h="1118544" w="1180903">
                  <a:moveTo>
                    <a:pt x="88060" y="0"/>
                  </a:moveTo>
                  <a:lnTo>
                    <a:pt x="1092843" y="0"/>
                  </a:lnTo>
                  <a:cubicBezTo>
                    <a:pt x="1141477" y="0"/>
                    <a:pt x="1180903" y="39426"/>
                    <a:pt x="1180903" y="88060"/>
                  </a:cubicBezTo>
                  <a:lnTo>
                    <a:pt x="1180903" y="1030484"/>
                  </a:lnTo>
                  <a:cubicBezTo>
                    <a:pt x="1180903" y="1079118"/>
                    <a:pt x="1141477" y="1118544"/>
                    <a:pt x="1092843" y="1118544"/>
                  </a:cubicBezTo>
                  <a:lnTo>
                    <a:pt x="88060" y="1118544"/>
                  </a:lnTo>
                  <a:cubicBezTo>
                    <a:pt x="39426" y="1118544"/>
                    <a:pt x="0" y="1079118"/>
                    <a:pt x="0" y="1030484"/>
                  </a:cubicBezTo>
                  <a:lnTo>
                    <a:pt x="0" y="88060"/>
                  </a:lnTo>
                  <a:cubicBezTo>
                    <a:pt x="0" y="39426"/>
                    <a:pt x="39426" y="0"/>
                    <a:pt x="88060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80903" cy="1156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86768" y="6417246"/>
            <a:ext cx="3902318" cy="893705"/>
            <a:chOff x="0" y="0"/>
            <a:chExt cx="1027771" cy="235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7771" cy="235379"/>
            </a:xfrm>
            <a:custGeom>
              <a:avLst/>
              <a:gdLst/>
              <a:ahLst/>
              <a:cxnLst/>
              <a:rect r="r" b="b" t="t" l="l"/>
              <a:pathLst>
                <a:path h="235379" w="1027771">
                  <a:moveTo>
                    <a:pt x="0" y="0"/>
                  </a:moveTo>
                  <a:lnTo>
                    <a:pt x="1027771" y="0"/>
                  </a:lnTo>
                  <a:lnTo>
                    <a:pt x="1027771" y="235379"/>
                  </a:lnTo>
                  <a:lnTo>
                    <a:pt x="0" y="235379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027771" cy="311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Stateless (mostly)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14138" y="6417246"/>
            <a:ext cx="3762840" cy="916539"/>
            <a:chOff x="0" y="0"/>
            <a:chExt cx="991036" cy="2413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1036" cy="241393"/>
            </a:xfrm>
            <a:custGeom>
              <a:avLst/>
              <a:gdLst/>
              <a:ahLst/>
              <a:cxnLst/>
              <a:rect r="r" b="b" t="t" l="l"/>
              <a:pathLst>
                <a:path h="241393" w="991036">
                  <a:moveTo>
                    <a:pt x="0" y="0"/>
                  </a:moveTo>
                  <a:lnTo>
                    <a:pt x="991036" y="0"/>
                  </a:lnTo>
                  <a:lnTo>
                    <a:pt x="991036" y="241393"/>
                  </a:lnTo>
                  <a:lnTo>
                    <a:pt x="0" y="24139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991036" cy="30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Packet Switching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20650" y="6394413"/>
            <a:ext cx="3674736" cy="916539"/>
            <a:chOff x="0" y="0"/>
            <a:chExt cx="967832" cy="2413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7832" cy="241393"/>
            </a:xfrm>
            <a:custGeom>
              <a:avLst/>
              <a:gdLst/>
              <a:ahLst/>
              <a:cxnLst/>
              <a:rect r="r" b="b" t="t" l="l"/>
              <a:pathLst>
                <a:path h="241393" w="967832">
                  <a:moveTo>
                    <a:pt x="0" y="0"/>
                  </a:moveTo>
                  <a:lnTo>
                    <a:pt x="967832" y="0"/>
                  </a:lnTo>
                  <a:lnTo>
                    <a:pt x="967832" y="241393"/>
                  </a:lnTo>
                  <a:lnTo>
                    <a:pt x="0" y="24139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67832" cy="317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 Addressing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8239" y="1931714"/>
            <a:ext cx="3780847" cy="1168501"/>
            <a:chOff x="0" y="0"/>
            <a:chExt cx="995779" cy="30775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5779" cy="307753"/>
            </a:xfrm>
            <a:custGeom>
              <a:avLst/>
              <a:gdLst/>
              <a:ahLst/>
              <a:cxnLst/>
              <a:rect r="r" b="b" t="t" l="l"/>
              <a:pathLst>
                <a:path h="307753" w="995779">
                  <a:moveTo>
                    <a:pt x="0" y="0"/>
                  </a:moveTo>
                  <a:lnTo>
                    <a:pt x="995779" y="0"/>
                  </a:lnTo>
                  <a:lnTo>
                    <a:pt x="995779" y="307753"/>
                  </a:lnTo>
                  <a:lnTo>
                    <a:pt x="0" y="30775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995779" cy="374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Protocol Independence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59657" y="1931714"/>
            <a:ext cx="3762840" cy="1126770"/>
            <a:chOff x="0" y="0"/>
            <a:chExt cx="991036" cy="2967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1036" cy="296763"/>
            </a:xfrm>
            <a:custGeom>
              <a:avLst/>
              <a:gdLst/>
              <a:ahLst/>
              <a:cxnLst/>
              <a:rect r="r" b="b" t="t" l="l"/>
              <a:pathLst>
                <a:path h="296763" w="991036">
                  <a:moveTo>
                    <a:pt x="0" y="0"/>
                  </a:moveTo>
                  <a:lnTo>
                    <a:pt x="991036" y="0"/>
                  </a:lnTo>
                  <a:lnTo>
                    <a:pt x="991036" y="296763"/>
                  </a:lnTo>
                  <a:lnTo>
                    <a:pt x="0" y="29676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1036" cy="353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End-to-Communication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0650" y="2036830"/>
            <a:ext cx="3674736" cy="916539"/>
            <a:chOff x="0" y="0"/>
            <a:chExt cx="967832" cy="2413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7832" cy="241393"/>
            </a:xfrm>
            <a:custGeom>
              <a:avLst/>
              <a:gdLst/>
              <a:ahLst/>
              <a:cxnLst/>
              <a:rect r="r" b="b" t="t" l="l"/>
              <a:pathLst>
                <a:path h="241393" w="967832">
                  <a:moveTo>
                    <a:pt x="0" y="0"/>
                  </a:moveTo>
                  <a:lnTo>
                    <a:pt x="967832" y="0"/>
                  </a:lnTo>
                  <a:lnTo>
                    <a:pt x="967832" y="241393"/>
                  </a:lnTo>
                  <a:lnTo>
                    <a:pt x="0" y="24139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67832" cy="308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Layered Design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933131" y="6041601"/>
            <a:ext cx="4354869" cy="4245399"/>
            <a:chOff x="0" y="0"/>
            <a:chExt cx="1146961" cy="11181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46961" cy="1118130"/>
            </a:xfrm>
            <a:custGeom>
              <a:avLst/>
              <a:gdLst/>
              <a:ahLst/>
              <a:cxnLst/>
              <a:rect r="r" b="b" t="t" l="l"/>
              <a:pathLst>
                <a:path h="1118130" w="1146961">
                  <a:moveTo>
                    <a:pt x="90666" y="0"/>
                  </a:moveTo>
                  <a:lnTo>
                    <a:pt x="1056296" y="0"/>
                  </a:lnTo>
                  <a:cubicBezTo>
                    <a:pt x="1080342" y="0"/>
                    <a:pt x="1103403" y="9552"/>
                    <a:pt x="1120406" y="26555"/>
                  </a:cubicBezTo>
                  <a:cubicBezTo>
                    <a:pt x="1137409" y="43559"/>
                    <a:pt x="1146961" y="66620"/>
                    <a:pt x="1146961" y="90666"/>
                  </a:cubicBezTo>
                  <a:lnTo>
                    <a:pt x="1146961" y="1027464"/>
                  </a:lnTo>
                  <a:cubicBezTo>
                    <a:pt x="1146961" y="1077537"/>
                    <a:pt x="1106369" y="1118130"/>
                    <a:pt x="1056296" y="1118130"/>
                  </a:cubicBezTo>
                  <a:lnTo>
                    <a:pt x="90666" y="1118130"/>
                  </a:lnTo>
                  <a:cubicBezTo>
                    <a:pt x="40592" y="1118130"/>
                    <a:pt x="0" y="1077537"/>
                    <a:pt x="0" y="1027464"/>
                  </a:cubicBezTo>
                  <a:lnTo>
                    <a:pt x="0" y="90666"/>
                  </a:lnTo>
                  <a:cubicBezTo>
                    <a:pt x="0" y="40592"/>
                    <a:pt x="40592" y="0"/>
                    <a:pt x="90666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146961" cy="1156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933131" y="1793059"/>
            <a:ext cx="4354869" cy="4248542"/>
            <a:chOff x="0" y="0"/>
            <a:chExt cx="1146961" cy="111895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6961" cy="1118958"/>
            </a:xfrm>
            <a:custGeom>
              <a:avLst/>
              <a:gdLst/>
              <a:ahLst/>
              <a:cxnLst/>
              <a:rect r="r" b="b" t="t" l="l"/>
              <a:pathLst>
                <a:path h="1118958" w="1146961">
                  <a:moveTo>
                    <a:pt x="90666" y="0"/>
                  </a:moveTo>
                  <a:lnTo>
                    <a:pt x="1056296" y="0"/>
                  </a:lnTo>
                  <a:cubicBezTo>
                    <a:pt x="1080342" y="0"/>
                    <a:pt x="1103403" y="9552"/>
                    <a:pt x="1120406" y="26555"/>
                  </a:cubicBezTo>
                  <a:cubicBezTo>
                    <a:pt x="1137409" y="43559"/>
                    <a:pt x="1146961" y="66620"/>
                    <a:pt x="1146961" y="90666"/>
                  </a:cubicBezTo>
                  <a:lnTo>
                    <a:pt x="1146961" y="1028292"/>
                  </a:lnTo>
                  <a:cubicBezTo>
                    <a:pt x="1146961" y="1078365"/>
                    <a:pt x="1106369" y="1118958"/>
                    <a:pt x="1056296" y="1118958"/>
                  </a:cubicBezTo>
                  <a:lnTo>
                    <a:pt x="90666" y="1118958"/>
                  </a:lnTo>
                  <a:cubicBezTo>
                    <a:pt x="40592" y="1118958"/>
                    <a:pt x="0" y="1078365"/>
                    <a:pt x="0" y="1028292"/>
                  </a:cubicBezTo>
                  <a:lnTo>
                    <a:pt x="0" y="90666"/>
                  </a:lnTo>
                  <a:cubicBezTo>
                    <a:pt x="0" y="40592"/>
                    <a:pt x="40592" y="0"/>
                    <a:pt x="90666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146961" cy="1157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161731" y="6441651"/>
            <a:ext cx="3935911" cy="903654"/>
            <a:chOff x="0" y="0"/>
            <a:chExt cx="1036618" cy="237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6618" cy="237999"/>
            </a:xfrm>
            <a:custGeom>
              <a:avLst/>
              <a:gdLst/>
              <a:ahLst/>
              <a:cxnLst/>
              <a:rect r="r" b="b" t="t" l="l"/>
              <a:pathLst>
                <a:path h="237999" w="1036618">
                  <a:moveTo>
                    <a:pt x="0" y="0"/>
                  </a:moveTo>
                  <a:lnTo>
                    <a:pt x="1036618" y="0"/>
                  </a:lnTo>
                  <a:lnTo>
                    <a:pt x="1036618" y="237999"/>
                  </a:lnTo>
                  <a:lnTo>
                    <a:pt x="0" y="237999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036618" cy="314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Open Standards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161731" y="2036830"/>
            <a:ext cx="3935911" cy="916539"/>
            <a:chOff x="0" y="0"/>
            <a:chExt cx="1036618" cy="24139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36618" cy="241393"/>
            </a:xfrm>
            <a:custGeom>
              <a:avLst/>
              <a:gdLst/>
              <a:ahLst/>
              <a:cxnLst/>
              <a:rect r="r" b="b" t="t" l="l"/>
              <a:pathLst>
                <a:path h="241393" w="1036618">
                  <a:moveTo>
                    <a:pt x="0" y="0"/>
                  </a:moveTo>
                  <a:lnTo>
                    <a:pt x="1036618" y="0"/>
                  </a:lnTo>
                  <a:lnTo>
                    <a:pt x="1036618" y="241393"/>
                  </a:lnTo>
                  <a:lnTo>
                    <a:pt x="0" y="241393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036618" cy="317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Scalable &amp; Robust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20650" y="3100215"/>
            <a:ext cx="3674736" cy="2624484"/>
            <a:chOff x="0" y="0"/>
            <a:chExt cx="967832" cy="69122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7832" cy="691222"/>
            </a:xfrm>
            <a:custGeom>
              <a:avLst/>
              <a:gdLst/>
              <a:ahLst/>
              <a:cxnLst/>
              <a:rect r="r" b="b" t="t" l="l"/>
              <a:pathLst>
                <a:path h="691222" w="967832">
                  <a:moveTo>
                    <a:pt x="0" y="0"/>
                  </a:moveTo>
                  <a:lnTo>
                    <a:pt x="967832" y="0"/>
                  </a:lnTo>
                  <a:lnTo>
                    <a:pt x="967832" y="691222"/>
                  </a:lnTo>
                  <a:lnTo>
                    <a:pt x="0" y="69122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967832" cy="767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sz="3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Each layer has its own function.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86768" y="7467135"/>
            <a:ext cx="3902318" cy="2317102"/>
            <a:chOff x="0" y="0"/>
            <a:chExt cx="1027771" cy="61026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7771" cy="610266"/>
            </a:xfrm>
            <a:custGeom>
              <a:avLst/>
              <a:gdLst/>
              <a:ahLst/>
              <a:cxnLst/>
              <a:rect r="r" b="b" t="t" l="l"/>
              <a:pathLst>
                <a:path h="610266" w="1027771">
                  <a:moveTo>
                    <a:pt x="0" y="0"/>
                  </a:moveTo>
                  <a:lnTo>
                    <a:pt x="1027771" y="0"/>
                  </a:lnTo>
                  <a:lnTo>
                    <a:pt x="1027771" y="610266"/>
                  </a:lnTo>
                  <a:lnTo>
                    <a:pt x="0" y="610266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27771" cy="67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 doesn’t track past packets, simplifying routing.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14138" y="7467135"/>
            <a:ext cx="3708359" cy="2317102"/>
            <a:chOff x="0" y="0"/>
            <a:chExt cx="976687" cy="61026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6687" cy="610266"/>
            </a:xfrm>
            <a:custGeom>
              <a:avLst/>
              <a:gdLst/>
              <a:ahLst/>
              <a:cxnLst/>
              <a:rect r="r" b="b" t="t" l="l"/>
              <a:pathLst>
                <a:path h="610266" w="976687">
                  <a:moveTo>
                    <a:pt x="0" y="0"/>
                  </a:moveTo>
                  <a:lnTo>
                    <a:pt x="976687" y="0"/>
                  </a:lnTo>
                  <a:lnTo>
                    <a:pt x="976687" y="610266"/>
                  </a:lnTo>
                  <a:lnTo>
                    <a:pt x="0" y="610266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976687" cy="676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 is split into packets for efficiency.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20650" y="7453827"/>
            <a:ext cx="3674736" cy="2330410"/>
            <a:chOff x="0" y="0"/>
            <a:chExt cx="967832" cy="6137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67832" cy="613771"/>
            </a:xfrm>
            <a:custGeom>
              <a:avLst/>
              <a:gdLst/>
              <a:ahLst/>
              <a:cxnLst/>
              <a:rect r="r" b="b" t="t" l="l"/>
              <a:pathLst>
                <a:path h="613771" w="967832">
                  <a:moveTo>
                    <a:pt x="0" y="0"/>
                  </a:moveTo>
                  <a:lnTo>
                    <a:pt x="967832" y="0"/>
                  </a:lnTo>
                  <a:lnTo>
                    <a:pt x="967832" y="613771"/>
                  </a:lnTo>
                  <a:lnTo>
                    <a:pt x="0" y="613771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967832" cy="680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Every device has a unique address.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173200" y="3194815"/>
            <a:ext cx="3924442" cy="2444787"/>
            <a:chOff x="0" y="0"/>
            <a:chExt cx="1033598" cy="6438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33598" cy="643895"/>
            </a:xfrm>
            <a:custGeom>
              <a:avLst/>
              <a:gdLst/>
              <a:ahLst/>
              <a:cxnLst/>
              <a:rect r="r" b="b" t="t" l="l"/>
              <a:pathLst>
                <a:path h="643895" w="1033598">
                  <a:moveTo>
                    <a:pt x="0" y="0"/>
                  </a:moveTo>
                  <a:lnTo>
                    <a:pt x="1033598" y="0"/>
                  </a:lnTo>
                  <a:lnTo>
                    <a:pt x="1033598" y="643895"/>
                  </a:lnTo>
                  <a:lnTo>
                    <a:pt x="0" y="643895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033598" cy="71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Works on small to global networks.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8239" y="3194815"/>
            <a:ext cx="3780847" cy="2444787"/>
            <a:chOff x="0" y="0"/>
            <a:chExt cx="995779" cy="64389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5779" cy="643895"/>
            </a:xfrm>
            <a:custGeom>
              <a:avLst/>
              <a:gdLst/>
              <a:ahLst/>
              <a:cxnLst/>
              <a:rect r="r" b="b" t="t" l="l"/>
              <a:pathLst>
                <a:path h="643895" w="995779">
                  <a:moveTo>
                    <a:pt x="0" y="0"/>
                  </a:moveTo>
                  <a:lnTo>
                    <a:pt x="995779" y="0"/>
                  </a:lnTo>
                  <a:lnTo>
                    <a:pt x="995779" y="643895"/>
                  </a:lnTo>
                  <a:lnTo>
                    <a:pt x="0" y="643895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995779" cy="71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Use different protocols as needed (e.g. TCP vs UDP).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14138" y="3194815"/>
            <a:ext cx="3708359" cy="2599993"/>
            <a:chOff x="0" y="0"/>
            <a:chExt cx="976687" cy="6847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6687" cy="684772"/>
            </a:xfrm>
            <a:custGeom>
              <a:avLst/>
              <a:gdLst/>
              <a:ahLst/>
              <a:cxnLst/>
              <a:rect r="r" b="b" t="t" l="l"/>
              <a:pathLst>
                <a:path h="684772" w="976687">
                  <a:moveTo>
                    <a:pt x="0" y="0"/>
                  </a:moveTo>
                  <a:lnTo>
                    <a:pt x="976687" y="0"/>
                  </a:lnTo>
                  <a:lnTo>
                    <a:pt x="976687" y="684772"/>
                  </a:lnTo>
                  <a:lnTo>
                    <a:pt x="0" y="68477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976687" cy="751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Direct communication between devices.</a:t>
              </a:r>
            </a:p>
            <a:p>
              <a:pPr algn="ctr">
                <a:lnSpc>
                  <a:spcPts val="47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173200" y="7583430"/>
            <a:ext cx="3924442" cy="2200807"/>
            <a:chOff x="0" y="0"/>
            <a:chExt cx="1033598" cy="5796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33598" cy="579636"/>
            </a:xfrm>
            <a:custGeom>
              <a:avLst/>
              <a:gdLst/>
              <a:ahLst/>
              <a:cxnLst/>
              <a:rect r="r" b="b" t="t" l="l"/>
              <a:pathLst>
                <a:path h="579636" w="1033598">
                  <a:moveTo>
                    <a:pt x="0" y="0"/>
                  </a:moveTo>
                  <a:lnTo>
                    <a:pt x="1033598" y="0"/>
                  </a:lnTo>
                  <a:lnTo>
                    <a:pt x="1033598" y="579636"/>
                  </a:lnTo>
                  <a:lnTo>
                    <a:pt x="0" y="579636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1033598" cy="646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79"/>
                </a:lnSpc>
              </a:pPr>
              <a:r>
                <a:rPr lang="en-US" sz="3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Free to use, supported globally.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781175" y="244897"/>
            <a:ext cx="15478125" cy="115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>
                <a:solidFill>
                  <a:srgbClr val="FF3131"/>
                </a:solidFill>
                <a:latin typeface="Fredoka"/>
                <a:ea typeface="Fredoka"/>
                <a:cs typeface="Fredoka"/>
                <a:sym typeface="Fredoka"/>
              </a:rPr>
              <a:t>KEY PRINCIPLE OF TCP/IP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919" y="0"/>
            <a:ext cx="18329919" cy="1537382"/>
            <a:chOff x="0" y="0"/>
            <a:chExt cx="4827633" cy="404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7633" cy="404907"/>
            </a:xfrm>
            <a:custGeom>
              <a:avLst/>
              <a:gdLst/>
              <a:ahLst/>
              <a:cxnLst/>
              <a:rect r="r" b="b" t="t" l="l"/>
              <a:pathLst>
                <a:path h="404907" w="4827633">
                  <a:moveTo>
                    <a:pt x="0" y="0"/>
                  </a:moveTo>
                  <a:lnTo>
                    <a:pt x="4827633" y="0"/>
                  </a:lnTo>
                  <a:lnTo>
                    <a:pt x="4827633" y="404907"/>
                  </a:lnTo>
                  <a:lnTo>
                    <a:pt x="0" y="404907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27633" cy="538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Working principle of TCP/IP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52620" y="3362325"/>
            <a:ext cx="5279821" cy="1428750"/>
            <a:chOff x="0" y="0"/>
            <a:chExt cx="1390570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0570" cy="376296"/>
            </a:xfrm>
            <a:custGeom>
              <a:avLst/>
              <a:gdLst/>
              <a:ahLst/>
              <a:cxnLst/>
              <a:rect r="r" b="b" t="t" l="l"/>
              <a:pathLst>
                <a:path h="376296" w="1390570">
                  <a:moveTo>
                    <a:pt x="0" y="0"/>
                  </a:moveTo>
                  <a:lnTo>
                    <a:pt x="1390570" y="0"/>
                  </a:lnTo>
                  <a:lnTo>
                    <a:pt x="1390570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90570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application generates data (such as HTTP request).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7190" y="7067550"/>
            <a:ext cx="3333750" cy="1428750"/>
            <a:chOff x="0" y="0"/>
            <a:chExt cx="878025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Network layer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52620" y="5142918"/>
            <a:ext cx="5279821" cy="1733626"/>
            <a:chOff x="0" y="0"/>
            <a:chExt cx="1390570" cy="4565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0570" cy="456593"/>
            </a:xfrm>
            <a:custGeom>
              <a:avLst/>
              <a:gdLst/>
              <a:ahLst/>
              <a:cxnLst/>
              <a:rect r="r" b="b" t="t" l="l"/>
              <a:pathLst>
                <a:path h="456593" w="1390570">
                  <a:moveTo>
                    <a:pt x="0" y="0"/>
                  </a:moveTo>
                  <a:lnTo>
                    <a:pt x="1390570" y="0"/>
                  </a:lnTo>
                  <a:lnTo>
                    <a:pt x="1390570" y="456593"/>
                  </a:lnTo>
                  <a:lnTo>
                    <a:pt x="0" y="456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90570" cy="5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 divides the data into segments and adds headers (port, sequence number).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Establish a connection (three-way handshake, see below).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7190" y="5143500"/>
            <a:ext cx="3333750" cy="1428750"/>
            <a:chOff x="0" y="0"/>
            <a:chExt cx="878025" cy="3762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Transport layer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52620" y="7108031"/>
            <a:ext cx="5279821" cy="1428750"/>
            <a:chOff x="0" y="0"/>
            <a:chExt cx="1390570" cy="376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0570" cy="376296"/>
            </a:xfrm>
            <a:custGeom>
              <a:avLst/>
              <a:gdLst/>
              <a:ahLst/>
              <a:cxnLst/>
              <a:rect r="r" b="b" t="t" l="l"/>
              <a:pathLst>
                <a:path h="376296" w="1390570">
                  <a:moveTo>
                    <a:pt x="0" y="0"/>
                  </a:moveTo>
                  <a:lnTo>
                    <a:pt x="1390570" y="0"/>
                  </a:lnTo>
                  <a:lnTo>
                    <a:pt x="1390570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90570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 encapsulates data into packets and adds source/destination IP.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7190" y="3362325"/>
            <a:ext cx="3333750" cy="1428750"/>
            <a:chOff x="0" y="0"/>
            <a:chExt cx="878025" cy="376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Application layer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5746" y="1684836"/>
            <a:ext cx="11017211" cy="1543050"/>
            <a:chOff x="0" y="0"/>
            <a:chExt cx="2901652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01652" cy="406400"/>
            </a:xfrm>
            <a:custGeom>
              <a:avLst/>
              <a:gdLst/>
              <a:ahLst/>
              <a:cxnLst/>
              <a:rect r="r" b="b" t="t" l="l"/>
              <a:pathLst>
                <a:path h="406400" w="2901652">
                  <a:moveTo>
                    <a:pt x="2698452" y="0"/>
                  </a:moveTo>
                  <a:cubicBezTo>
                    <a:pt x="2810677" y="0"/>
                    <a:pt x="2901652" y="90976"/>
                    <a:pt x="2901652" y="203200"/>
                  </a:cubicBezTo>
                  <a:cubicBezTo>
                    <a:pt x="2901652" y="315424"/>
                    <a:pt x="2810677" y="406400"/>
                    <a:pt x="26984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9016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7190" y="8858250"/>
            <a:ext cx="3333750" cy="1428750"/>
            <a:chOff x="0" y="0"/>
            <a:chExt cx="878025" cy="3762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Network interface layer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152620" y="8695781"/>
            <a:ext cx="5279821" cy="1557654"/>
            <a:chOff x="0" y="0"/>
            <a:chExt cx="1390570" cy="4102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0570" cy="410246"/>
            </a:xfrm>
            <a:custGeom>
              <a:avLst/>
              <a:gdLst/>
              <a:ahLst/>
              <a:cxnLst/>
              <a:rect r="r" b="b" t="t" l="l"/>
              <a:pathLst>
                <a:path h="410246" w="1390570">
                  <a:moveTo>
                    <a:pt x="0" y="0"/>
                  </a:moveTo>
                  <a:lnTo>
                    <a:pt x="1390570" y="0"/>
                  </a:lnTo>
                  <a:lnTo>
                    <a:pt x="1390570" y="410246"/>
                  </a:lnTo>
                  <a:lnTo>
                    <a:pt x="0" y="4102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390570" cy="457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Encapsulates into frames, adds MAC addresses, and sends through physical media.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-2468946" y="1943915"/>
            <a:ext cx="17106596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53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ata transmission process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118754" y="8858250"/>
            <a:ext cx="3333750" cy="1428750"/>
            <a:chOff x="0" y="0"/>
            <a:chExt cx="878025" cy="3762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Network interface layer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118754" y="3395662"/>
            <a:ext cx="3333750" cy="1428750"/>
            <a:chOff x="0" y="0"/>
            <a:chExt cx="878025" cy="3762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Application layer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118754" y="5251847"/>
            <a:ext cx="3333750" cy="1428750"/>
            <a:chOff x="0" y="0"/>
            <a:chExt cx="878025" cy="3762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Transport layer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18754" y="7109222"/>
            <a:ext cx="3333750" cy="1428750"/>
            <a:chOff x="0" y="0"/>
            <a:chExt cx="878025" cy="3762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78025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Network layer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52554" y="3395662"/>
            <a:ext cx="4149184" cy="1428750"/>
            <a:chOff x="0" y="0"/>
            <a:chExt cx="1092789" cy="3762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2789" cy="376296"/>
            </a:xfrm>
            <a:custGeom>
              <a:avLst/>
              <a:gdLst/>
              <a:ahLst/>
              <a:cxnLst/>
              <a:rect r="r" b="b" t="t" l="l"/>
              <a:pathLst>
                <a:path h="376296" w="1092789">
                  <a:moveTo>
                    <a:pt x="0" y="0"/>
                  </a:moveTo>
                  <a:lnTo>
                    <a:pt x="1092789" y="0"/>
                  </a:lnTo>
                  <a:lnTo>
                    <a:pt x="109278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92789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Processes data (such as displaying a web page).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852554" y="5295356"/>
            <a:ext cx="4149184" cy="1428750"/>
            <a:chOff x="0" y="0"/>
            <a:chExt cx="1092789" cy="3762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2789" cy="376296"/>
            </a:xfrm>
            <a:custGeom>
              <a:avLst/>
              <a:gdLst/>
              <a:ahLst/>
              <a:cxnLst/>
              <a:rect r="r" b="b" t="t" l="l"/>
              <a:pathLst>
                <a:path h="376296" w="1092789">
                  <a:moveTo>
                    <a:pt x="0" y="0"/>
                  </a:moveTo>
                  <a:lnTo>
                    <a:pt x="1092789" y="0"/>
                  </a:lnTo>
                  <a:lnTo>
                    <a:pt x="109278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2789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 reassembles data, sends ACK, and passes it to the application layer.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852554" y="7067550"/>
            <a:ext cx="4149184" cy="1428750"/>
            <a:chOff x="0" y="0"/>
            <a:chExt cx="1092789" cy="3762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2789" cy="376296"/>
            </a:xfrm>
            <a:custGeom>
              <a:avLst/>
              <a:gdLst/>
              <a:ahLst/>
              <a:cxnLst/>
              <a:rect r="r" b="b" t="t" l="l"/>
              <a:pathLst>
                <a:path h="376296" w="1092789">
                  <a:moveTo>
                    <a:pt x="0" y="0"/>
                  </a:moveTo>
                  <a:lnTo>
                    <a:pt x="1092789" y="0"/>
                  </a:lnTo>
                  <a:lnTo>
                    <a:pt x="109278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2789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Verifies the IP header and passes it to the transport layer after stripping.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852554" y="8858250"/>
            <a:ext cx="4149184" cy="1428750"/>
            <a:chOff x="0" y="0"/>
            <a:chExt cx="1092789" cy="3762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2789" cy="376296"/>
            </a:xfrm>
            <a:custGeom>
              <a:avLst/>
              <a:gdLst/>
              <a:ahLst/>
              <a:cxnLst/>
              <a:rect r="r" b="b" t="t" l="l"/>
              <a:pathLst>
                <a:path h="376296" w="1092789">
                  <a:moveTo>
                    <a:pt x="0" y="0"/>
                  </a:moveTo>
                  <a:lnTo>
                    <a:pt x="1092789" y="0"/>
                  </a:lnTo>
                  <a:lnTo>
                    <a:pt x="109278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2789" cy="414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Receives frames and strips off the MAC header.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919" y="0"/>
            <a:ext cx="18329919" cy="1537382"/>
            <a:chOff x="0" y="0"/>
            <a:chExt cx="4827633" cy="404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7633" cy="404907"/>
            </a:xfrm>
            <a:custGeom>
              <a:avLst/>
              <a:gdLst/>
              <a:ahLst/>
              <a:cxnLst/>
              <a:rect r="r" b="b" t="t" l="l"/>
              <a:pathLst>
                <a:path h="404907" w="4827633">
                  <a:moveTo>
                    <a:pt x="0" y="0"/>
                  </a:moveTo>
                  <a:lnTo>
                    <a:pt x="4827633" y="0"/>
                  </a:lnTo>
                  <a:lnTo>
                    <a:pt x="4827633" y="404907"/>
                  </a:lnTo>
                  <a:lnTo>
                    <a:pt x="0" y="404907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27633" cy="538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Working principle of TCP/IP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7190" y="6353175"/>
            <a:ext cx="3333750" cy="1428750"/>
            <a:chOff x="0" y="0"/>
            <a:chExt cx="878025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78025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The client sends ACK (Ack=y+1).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52620" y="4580981"/>
            <a:ext cx="4970420" cy="1385241"/>
            <a:chOff x="0" y="0"/>
            <a:chExt cx="1309082" cy="3648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9082" cy="364837"/>
            </a:xfrm>
            <a:custGeom>
              <a:avLst/>
              <a:gdLst/>
              <a:ahLst/>
              <a:cxnLst/>
              <a:rect r="r" b="b" t="t" l="l"/>
              <a:pathLst>
                <a:path h="364837" w="1309082">
                  <a:moveTo>
                    <a:pt x="0" y="0"/>
                  </a:moveTo>
                  <a:lnTo>
                    <a:pt x="1309082" y="0"/>
                  </a:lnTo>
                  <a:lnTo>
                    <a:pt x="1309082" y="364837"/>
                  </a:lnTo>
                  <a:lnTo>
                    <a:pt x="0" y="3648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09082" cy="42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server rep</a:t>
              </a: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lies SYN-ACK (Ack=x+1, Seq=y).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8820" y="4580981"/>
            <a:ext cx="3333750" cy="1385241"/>
            <a:chOff x="0" y="0"/>
            <a:chExt cx="878025" cy="364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8025" cy="364837"/>
            </a:xfrm>
            <a:custGeom>
              <a:avLst/>
              <a:gdLst/>
              <a:ahLst/>
              <a:cxnLst/>
              <a:rect r="r" b="b" t="t" l="l"/>
              <a:pathLst>
                <a:path h="364837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64837"/>
                  </a:lnTo>
                  <a:lnTo>
                    <a:pt x="0" y="364837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78025" cy="42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The client sends SYN (Seq=x).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52620" y="6320870"/>
            <a:ext cx="5566083" cy="1515922"/>
            <a:chOff x="0" y="0"/>
            <a:chExt cx="1465964" cy="399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5964" cy="399255"/>
            </a:xfrm>
            <a:custGeom>
              <a:avLst/>
              <a:gdLst/>
              <a:ahLst/>
              <a:cxnLst/>
              <a:rect r="r" b="b" t="t" l="l"/>
              <a:pathLst>
                <a:path h="399255" w="1465964">
                  <a:moveTo>
                    <a:pt x="0" y="0"/>
                  </a:moveTo>
                  <a:lnTo>
                    <a:pt x="1465964" y="0"/>
                  </a:lnTo>
                  <a:lnTo>
                    <a:pt x="1465964" y="399255"/>
                  </a:lnTo>
                  <a:lnTo>
                    <a:pt x="0" y="3992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65964" cy="45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connection enters the ESTABLISHED state, and both parties can transmit data.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8820" y="3370761"/>
            <a:ext cx="9299883" cy="965585"/>
            <a:chOff x="0" y="0"/>
            <a:chExt cx="2449352" cy="254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9352" cy="254311"/>
            </a:xfrm>
            <a:custGeom>
              <a:avLst/>
              <a:gdLst/>
              <a:ahLst/>
              <a:cxnLst/>
              <a:rect r="r" b="b" t="t" l="l"/>
              <a:pathLst>
                <a:path h="254311" w="2449352">
                  <a:moveTo>
                    <a:pt x="0" y="0"/>
                  </a:moveTo>
                  <a:lnTo>
                    <a:pt x="2449352" y="0"/>
                  </a:lnTo>
                  <a:lnTo>
                    <a:pt x="2449352" y="254311"/>
                  </a:lnTo>
                  <a:lnTo>
                    <a:pt x="0" y="254311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449352" cy="311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Three-way handshake (establishing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7190" y="1682547"/>
            <a:ext cx="11017211" cy="1543050"/>
            <a:chOff x="0" y="0"/>
            <a:chExt cx="2901652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01652" cy="406400"/>
            </a:xfrm>
            <a:custGeom>
              <a:avLst/>
              <a:gdLst/>
              <a:ahLst/>
              <a:cxnLst/>
              <a:rect r="r" b="b" t="t" l="l"/>
              <a:pathLst>
                <a:path h="406400" w="2901652">
                  <a:moveTo>
                    <a:pt x="2698452" y="0"/>
                  </a:moveTo>
                  <a:cubicBezTo>
                    <a:pt x="2810677" y="0"/>
                    <a:pt x="2901652" y="90976"/>
                    <a:pt x="2901652" y="203200"/>
                  </a:cubicBezTo>
                  <a:cubicBezTo>
                    <a:pt x="2901652" y="315424"/>
                    <a:pt x="2810677" y="406400"/>
                    <a:pt x="26984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9016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7190" y="8496300"/>
            <a:ext cx="3333750" cy="1428750"/>
            <a:chOff x="0" y="0"/>
            <a:chExt cx="878025" cy="376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78025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Data transmission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152620" y="8084442"/>
            <a:ext cx="5966133" cy="2184933"/>
            <a:chOff x="0" y="0"/>
            <a:chExt cx="1571327" cy="575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71327" cy="575456"/>
            </a:xfrm>
            <a:custGeom>
              <a:avLst/>
              <a:gdLst/>
              <a:ahLst/>
              <a:cxnLst/>
              <a:rect r="r" b="b" t="t" l="l"/>
              <a:pathLst>
                <a:path h="575456" w="1571327">
                  <a:moveTo>
                    <a:pt x="0" y="0"/>
                  </a:moveTo>
                  <a:lnTo>
                    <a:pt x="1571327" y="0"/>
                  </a:lnTo>
                  <a:lnTo>
                    <a:pt x="1571327" y="575456"/>
                  </a:lnTo>
                  <a:lnTo>
                    <a:pt x="0" y="575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571327" cy="623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 uses sequence numbers and confirmation numbers to ensure that data is in order and not lost.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sliding window controls the flow, and congestion control adjusts the sending rate.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18754" y="3343565"/>
            <a:ext cx="7882984" cy="992782"/>
            <a:chOff x="0" y="0"/>
            <a:chExt cx="2076177" cy="2614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76177" cy="261473"/>
            </a:xfrm>
            <a:custGeom>
              <a:avLst/>
              <a:gdLst/>
              <a:ahLst/>
              <a:cxnLst/>
              <a:rect r="r" b="b" t="t" l="l"/>
              <a:pathLst>
                <a:path h="261473" w="2076177">
                  <a:moveTo>
                    <a:pt x="0" y="0"/>
                  </a:moveTo>
                  <a:lnTo>
                    <a:pt x="2076177" y="0"/>
                  </a:lnTo>
                  <a:lnTo>
                    <a:pt x="2076177" y="261473"/>
                  </a:lnTo>
                  <a:lnTo>
                    <a:pt x="0" y="261473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076177" cy="318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Four waves (closing the connection)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18754" y="4580981"/>
            <a:ext cx="3333750" cy="1428750"/>
            <a:chOff x="0" y="0"/>
            <a:chExt cx="878025" cy="376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78025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The client sends FIN (Seq=x).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18754" y="6408042"/>
            <a:ext cx="3333750" cy="1428750"/>
            <a:chOff x="0" y="0"/>
            <a:chExt cx="878025" cy="3762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78025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The server sends FIN (Seq=y).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52554" y="4580981"/>
            <a:ext cx="4149184" cy="1428750"/>
            <a:chOff x="0" y="0"/>
            <a:chExt cx="1092789" cy="3762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2789" cy="376296"/>
            </a:xfrm>
            <a:custGeom>
              <a:avLst/>
              <a:gdLst/>
              <a:ahLst/>
              <a:cxnLst/>
              <a:rect r="r" b="b" t="t" l="l"/>
              <a:pathLst>
                <a:path h="376296" w="1092789">
                  <a:moveTo>
                    <a:pt x="0" y="0"/>
                  </a:moveTo>
                  <a:lnTo>
                    <a:pt x="1092789" y="0"/>
                  </a:lnTo>
                  <a:lnTo>
                    <a:pt x="109278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92789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server replies ACK (Ack=x+1).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852554" y="6524081"/>
            <a:ext cx="4149184" cy="1428750"/>
            <a:chOff x="0" y="0"/>
            <a:chExt cx="1092789" cy="3762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2789" cy="376296"/>
            </a:xfrm>
            <a:custGeom>
              <a:avLst/>
              <a:gdLst/>
              <a:ahLst/>
              <a:cxnLst/>
              <a:rect r="r" b="b" t="t" l="l"/>
              <a:pathLst>
                <a:path h="376296" w="1092789">
                  <a:moveTo>
                    <a:pt x="0" y="0"/>
                  </a:moveTo>
                  <a:lnTo>
                    <a:pt x="1092789" y="0"/>
                  </a:lnTo>
                  <a:lnTo>
                    <a:pt x="109278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92789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client replies ACK (Ack=y+1)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76577" y="8467181"/>
            <a:ext cx="6567337" cy="1428750"/>
            <a:chOff x="0" y="0"/>
            <a:chExt cx="1729669" cy="3762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29669" cy="376296"/>
            </a:xfrm>
            <a:custGeom>
              <a:avLst/>
              <a:gdLst/>
              <a:ahLst/>
              <a:cxnLst/>
              <a:rect r="r" b="b" t="t" l="l"/>
              <a:pathLst>
                <a:path h="376296" w="1729669">
                  <a:moveTo>
                    <a:pt x="0" y="0"/>
                  </a:moveTo>
                  <a:lnTo>
                    <a:pt x="1729669" y="0"/>
                  </a:lnTo>
                  <a:lnTo>
                    <a:pt x="1729669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729669" cy="442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Both parties enter the CLOSED state.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-2468946" y="1943915"/>
            <a:ext cx="17106596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TCP</a:t>
            </a:r>
            <a:r>
              <a:rPr lang="en-US" sz="53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 Connection Management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919" y="0"/>
            <a:ext cx="18329919" cy="1537382"/>
            <a:chOff x="0" y="0"/>
            <a:chExt cx="4827633" cy="404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7633" cy="404907"/>
            </a:xfrm>
            <a:custGeom>
              <a:avLst/>
              <a:gdLst/>
              <a:ahLst/>
              <a:cxnLst/>
              <a:rect r="r" b="b" t="t" l="l"/>
              <a:pathLst>
                <a:path h="404907" w="4827633">
                  <a:moveTo>
                    <a:pt x="0" y="0"/>
                  </a:moveTo>
                  <a:lnTo>
                    <a:pt x="4827633" y="0"/>
                  </a:lnTo>
                  <a:lnTo>
                    <a:pt x="4827633" y="404907"/>
                  </a:lnTo>
                  <a:lnTo>
                    <a:pt x="0" y="404907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4827633" cy="538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Working principle of TCP/IP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7190" y="7370791"/>
            <a:ext cx="2201366" cy="1096390"/>
            <a:chOff x="0" y="0"/>
            <a:chExt cx="579784" cy="2887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9784" cy="288761"/>
            </a:xfrm>
            <a:custGeom>
              <a:avLst/>
              <a:gdLst/>
              <a:ahLst/>
              <a:cxnLst/>
              <a:rect r="r" b="b" t="t" l="l"/>
              <a:pathLst>
                <a:path h="288761" w="579784">
                  <a:moveTo>
                    <a:pt x="0" y="0"/>
                  </a:moveTo>
                  <a:lnTo>
                    <a:pt x="579784" y="0"/>
                  </a:lnTo>
                  <a:lnTo>
                    <a:pt x="579784" y="288761"/>
                  </a:lnTo>
                  <a:lnTo>
                    <a:pt x="0" y="288761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9784" cy="345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8820" y="4109125"/>
            <a:ext cx="9299883" cy="1385241"/>
            <a:chOff x="0" y="0"/>
            <a:chExt cx="2449352" cy="3648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9352" cy="364837"/>
            </a:xfrm>
            <a:custGeom>
              <a:avLst/>
              <a:gdLst/>
              <a:ahLst/>
              <a:cxnLst/>
              <a:rect r="r" b="b" t="t" l="l"/>
              <a:pathLst>
                <a:path h="364837" w="2449352">
                  <a:moveTo>
                    <a:pt x="0" y="0"/>
                  </a:moveTo>
                  <a:lnTo>
                    <a:pt x="2449352" y="0"/>
                  </a:lnTo>
                  <a:lnTo>
                    <a:pt x="2449352" y="364837"/>
                  </a:lnTo>
                  <a:lnTo>
                    <a:pt x="0" y="3648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449352" cy="421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network layer searches the routing tab</a:t>
              </a: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le based on the target IP and determines the next hop.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3430" y="8913841"/>
            <a:ext cx="8426904" cy="1340840"/>
            <a:chOff x="0" y="0"/>
            <a:chExt cx="2219431" cy="353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9431" cy="353143"/>
            </a:xfrm>
            <a:custGeom>
              <a:avLst/>
              <a:gdLst/>
              <a:ahLst/>
              <a:cxnLst/>
              <a:rect r="r" b="b" t="t" l="l"/>
              <a:pathLst>
                <a:path h="353143" w="2219431">
                  <a:moveTo>
                    <a:pt x="0" y="0"/>
                  </a:moveTo>
                  <a:lnTo>
                    <a:pt x="2219431" y="0"/>
                  </a:lnTo>
                  <a:lnTo>
                    <a:pt x="2219431" y="353143"/>
                  </a:lnTo>
                  <a:lnTo>
                    <a:pt x="0" y="3531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19431" cy="410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Support fragmentation: large data packets can be divided into small pieces and reassembled at the receiving end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8820" y="5608666"/>
            <a:ext cx="9301513" cy="1428750"/>
            <a:chOff x="0" y="0"/>
            <a:chExt cx="2449781" cy="3762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9781" cy="376296"/>
            </a:xfrm>
            <a:custGeom>
              <a:avLst/>
              <a:gdLst/>
              <a:ahLst/>
              <a:cxnLst/>
              <a:rect r="r" b="b" t="t" l="l"/>
              <a:pathLst>
                <a:path h="376296" w="2449781">
                  <a:moveTo>
                    <a:pt x="0" y="0"/>
                  </a:moveTo>
                  <a:lnTo>
                    <a:pt x="2449781" y="0"/>
                  </a:lnTo>
                  <a:lnTo>
                    <a:pt x="244978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44978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data packet may pass through multiple routers and finally reach the target.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18820" y="3029240"/>
            <a:ext cx="9299883" cy="965585"/>
            <a:chOff x="0" y="0"/>
            <a:chExt cx="2449352" cy="254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9352" cy="254311"/>
            </a:xfrm>
            <a:custGeom>
              <a:avLst/>
              <a:gdLst/>
              <a:ahLst/>
              <a:cxnLst/>
              <a:rect r="r" b="b" t="t" l="l"/>
              <a:pathLst>
                <a:path h="254311" w="2449352">
                  <a:moveTo>
                    <a:pt x="0" y="0"/>
                  </a:moveTo>
                  <a:lnTo>
                    <a:pt x="2449352" y="0"/>
                  </a:lnTo>
                  <a:lnTo>
                    <a:pt x="2449352" y="254311"/>
                  </a:lnTo>
                  <a:lnTo>
                    <a:pt x="0" y="254311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449352" cy="311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Routing process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7190" y="1653972"/>
            <a:ext cx="11017211" cy="1260968"/>
            <a:chOff x="0" y="0"/>
            <a:chExt cx="2901652" cy="3321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01652" cy="332107"/>
            </a:xfrm>
            <a:custGeom>
              <a:avLst/>
              <a:gdLst/>
              <a:ahLst/>
              <a:cxnLst/>
              <a:rect r="r" b="b" t="t" l="l"/>
              <a:pathLst>
                <a:path h="332107" w="2901652">
                  <a:moveTo>
                    <a:pt x="2698452" y="0"/>
                  </a:moveTo>
                  <a:cubicBezTo>
                    <a:pt x="2810677" y="0"/>
                    <a:pt x="2901652" y="74345"/>
                    <a:pt x="2901652" y="166053"/>
                  </a:cubicBezTo>
                  <a:cubicBezTo>
                    <a:pt x="2901652" y="257762"/>
                    <a:pt x="2810677" y="332107"/>
                    <a:pt x="2698452" y="332107"/>
                  </a:cubicBezTo>
                  <a:lnTo>
                    <a:pt x="203200" y="332107"/>
                  </a:lnTo>
                  <a:cubicBezTo>
                    <a:pt x="90976" y="332107"/>
                    <a:pt x="0" y="257762"/>
                    <a:pt x="0" y="166053"/>
                  </a:cubicBezTo>
                  <a:cubicBezTo>
                    <a:pt x="0" y="7434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901652" cy="370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24234" y="7370791"/>
            <a:ext cx="6894470" cy="1428750"/>
            <a:chOff x="0" y="0"/>
            <a:chExt cx="1815827" cy="3762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5828" cy="376296"/>
            </a:xfrm>
            <a:custGeom>
              <a:avLst/>
              <a:gdLst/>
              <a:ahLst/>
              <a:cxnLst/>
              <a:rect r="r" b="b" t="t" l="l"/>
              <a:pathLst>
                <a:path h="376296" w="1815828">
                  <a:moveTo>
                    <a:pt x="0" y="0"/>
                  </a:moveTo>
                  <a:lnTo>
                    <a:pt x="1815828" y="0"/>
                  </a:lnTo>
                  <a:lnTo>
                    <a:pt x="1815828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815827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 does not guarantee that data packets arrive in order or are not lost, and relies on TCP to handle these problems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18754" y="3029240"/>
            <a:ext cx="7882984" cy="992782"/>
            <a:chOff x="0" y="0"/>
            <a:chExt cx="2076177" cy="2614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6177" cy="261473"/>
            </a:xfrm>
            <a:custGeom>
              <a:avLst/>
              <a:gdLst/>
              <a:ahLst/>
              <a:cxnLst/>
              <a:rect r="r" b="b" t="t" l="l"/>
              <a:pathLst>
                <a:path h="261473" w="2076177">
                  <a:moveTo>
                    <a:pt x="0" y="0"/>
                  </a:moveTo>
                  <a:lnTo>
                    <a:pt x="2076177" y="0"/>
                  </a:lnTo>
                  <a:lnTo>
                    <a:pt x="2076177" y="261473"/>
                  </a:lnTo>
                  <a:lnTo>
                    <a:pt x="0" y="261473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076177" cy="318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Error handling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18754" y="4580981"/>
            <a:ext cx="3333750" cy="1428750"/>
            <a:chOff x="0" y="0"/>
            <a:chExt cx="878025" cy="376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78025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TCP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18754" y="6672035"/>
            <a:ext cx="3333750" cy="1428750"/>
            <a:chOff x="0" y="0"/>
            <a:chExt cx="878025" cy="3762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78025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IP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54386" y="4265624"/>
            <a:ext cx="4347352" cy="2014854"/>
            <a:chOff x="0" y="0"/>
            <a:chExt cx="1144981" cy="5306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4981" cy="530661"/>
            </a:xfrm>
            <a:custGeom>
              <a:avLst/>
              <a:gdLst/>
              <a:ahLst/>
              <a:cxnLst/>
              <a:rect r="r" b="b" t="t" l="l"/>
              <a:pathLst>
                <a:path h="530661" w="1144981">
                  <a:moveTo>
                    <a:pt x="0" y="0"/>
                  </a:moveTo>
                  <a:lnTo>
                    <a:pt x="1144981" y="0"/>
                  </a:lnTo>
                  <a:lnTo>
                    <a:pt x="1144981" y="530661"/>
                  </a:lnTo>
                  <a:lnTo>
                    <a:pt x="0" y="530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144981" cy="578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handles errors through retransmission and checksum (verifying data integrity)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654386" y="6541274"/>
            <a:ext cx="4347352" cy="1576704"/>
            <a:chOff x="0" y="0"/>
            <a:chExt cx="1144981" cy="415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44981" cy="415264"/>
            </a:xfrm>
            <a:custGeom>
              <a:avLst/>
              <a:gdLst/>
              <a:ahLst/>
              <a:cxnLst/>
              <a:rect r="r" b="b" t="t" l="l"/>
              <a:pathLst>
                <a:path h="415264" w="1144981">
                  <a:moveTo>
                    <a:pt x="0" y="0"/>
                  </a:moveTo>
                  <a:lnTo>
                    <a:pt x="1144981" y="0"/>
                  </a:lnTo>
                  <a:lnTo>
                    <a:pt x="1144981" y="415264"/>
                  </a:lnTo>
                  <a:lnTo>
                    <a:pt x="0" y="415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144981" cy="462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packets may be lost or out of order, TCP is responsible for correction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62054" y="8378775"/>
            <a:ext cx="4339684" cy="1759051"/>
            <a:chOff x="0" y="0"/>
            <a:chExt cx="1142962" cy="4632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42962" cy="463289"/>
            </a:xfrm>
            <a:custGeom>
              <a:avLst/>
              <a:gdLst/>
              <a:ahLst/>
              <a:cxnLst/>
              <a:rect r="r" b="b" t="t" l="l"/>
              <a:pathLst>
                <a:path h="463289" w="1142962">
                  <a:moveTo>
                    <a:pt x="0" y="0"/>
                  </a:moveTo>
                  <a:lnTo>
                    <a:pt x="1142962" y="0"/>
                  </a:lnTo>
                  <a:lnTo>
                    <a:pt x="1142962" y="463289"/>
                  </a:lnTo>
                  <a:lnTo>
                    <a:pt x="0" y="4632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142962" cy="529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reports errors (such as "destination unreachable")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-2627502" y="1772009"/>
            <a:ext cx="17106596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IP</a:t>
            </a:r>
            <a:r>
              <a:rPr lang="en-US" sz="5399">
                <a:solidFill>
                  <a:srgbClr val="FFBD59"/>
                </a:solidFill>
                <a:latin typeface="Quicksand"/>
                <a:ea typeface="Quicksand"/>
                <a:cs typeface="Quicksand"/>
                <a:sym typeface="Quicksand"/>
              </a:rPr>
              <a:t> routing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118754" y="8543925"/>
            <a:ext cx="3333750" cy="1428750"/>
            <a:chOff x="0" y="0"/>
            <a:chExt cx="878025" cy="3762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025" cy="376296"/>
            </a:xfrm>
            <a:custGeom>
              <a:avLst/>
              <a:gdLst/>
              <a:ahLst/>
              <a:cxnLst/>
              <a:rect r="r" b="b" t="t" l="l"/>
              <a:pathLst>
                <a:path h="376296" w="878025">
                  <a:moveTo>
                    <a:pt x="0" y="0"/>
                  </a:moveTo>
                  <a:lnTo>
                    <a:pt x="878025" y="0"/>
                  </a:lnTo>
                  <a:lnTo>
                    <a:pt x="878025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78025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ICMP (Internet Layer Auxiliary Protocol)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8815" y="0"/>
            <a:ext cx="10959185" cy="10287000"/>
            <a:chOff x="0" y="0"/>
            <a:chExt cx="288637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63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886370">
                  <a:moveTo>
                    <a:pt x="0" y="0"/>
                  </a:moveTo>
                  <a:lnTo>
                    <a:pt x="2886370" y="0"/>
                  </a:lnTo>
                  <a:lnTo>
                    <a:pt x="288637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8637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9644" y="0"/>
            <a:ext cx="8679656" cy="10287000"/>
          </a:xfrm>
          <a:custGeom>
            <a:avLst/>
            <a:gdLst/>
            <a:ahLst/>
            <a:cxnLst/>
            <a:rect r="r" b="b" t="t" l="l"/>
            <a:pathLst>
              <a:path h="10287000" w="8679656">
                <a:moveTo>
                  <a:pt x="0" y="0"/>
                </a:moveTo>
                <a:lnTo>
                  <a:pt x="8679656" y="0"/>
                </a:lnTo>
                <a:lnTo>
                  <a:pt x="86796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6789" y="4530922"/>
            <a:ext cx="4909526" cy="5227066"/>
            <a:chOff x="0" y="0"/>
            <a:chExt cx="1293044" cy="13766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3044" cy="1376676"/>
            </a:xfrm>
            <a:custGeom>
              <a:avLst/>
              <a:gdLst/>
              <a:ahLst/>
              <a:cxnLst/>
              <a:rect r="r" b="b" t="t" l="l"/>
              <a:pathLst>
                <a:path h="1376676" w="1293044">
                  <a:moveTo>
                    <a:pt x="0" y="0"/>
                  </a:moveTo>
                  <a:lnTo>
                    <a:pt x="1293044" y="0"/>
                  </a:lnTo>
                  <a:lnTo>
                    <a:pt x="1293044" y="1376676"/>
                  </a:lnTo>
                  <a:lnTo>
                    <a:pt x="0" y="1376676"/>
                  </a:lnTo>
                  <a:close/>
                </a:path>
              </a:pathLst>
            </a:custGeom>
            <a:solidFill>
              <a:srgbClr val="4C52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293044" cy="1490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8119"/>
                </a:lnSpc>
              </a:pPr>
              <a:r>
                <a:rPr lang="en-US" sz="5799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TCP/IP communication flow chart</a:t>
              </a:r>
            </a:p>
            <a:p>
              <a:pPr algn="r">
                <a:lnSpc>
                  <a:spcPts val="8119"/>
                </a:lnSpc>
              </a:pPr>
              <a:r>
                <a:rPr lang="en-US" sz="5799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TCP/IP的通讯流程图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149653"/>
            <a:ext cx="5546315" cy="391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434"/>
              </a:lnSpc>
            </a:pPr>
            <a:r>
              <a:rPr lang="en-US" sz="7453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TCP/IP VISUAL ELEMENTS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833959" cy="10287000"/>
            <a:chOff x="0" y="0"/>
            <a:chExt cx="31167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67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16763">
                  <a:moveTo>
                    <a:pt x="0" y="0"/>
                  </a:moveTo>
                  <a:lnTo>
                    <a:pt x="3116763" y="0"/>
                  </a:lnTo>
                  <a:lnTo>
                    <a:pt x="31167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1676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66584" y="419047"/>
            <a:ext cx="12710820" cy="9867953"/>
          </a:xfrm>
          <a:custGeom>
            <a:avLst/>
            <a:gdLst/>
            <a:ahLst/>
            <a:cxnLst/>
            <a:rect r="r" b="b" t="t" l="l"/>
            <a:pathLst>
              <a:path h="9867953" w="12710820">
                <a:moveTo>
                  <a:pt x="0" y="0"/>
                </a:moveTo>
                <a:lnTo>
                  <a:pt x="12710820" y="0"/>
                </a:lnTo>
                <a:lnTo>
                  <a:pt x="12710820" y="9867953"/>
                </a:lnTo>
                <a:lnTo>
                  <a:pt x="0" y="9867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7" t="0" r="-149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33959" y="35283"/>
            <a:ext cx="6454041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5" indent="-291463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sz="26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Sta</a:t>
            </a:r>
            <a:r>
              <a:rPr lang="en-US" sz="26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rting from the CLOSED state, the server enters the LISTEN state, waiting for the client to connect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33959" y="2014579"/>
            <a:ext cx="6454041" cy="189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4"/>
              </a:lnSpc>
              <a:spcBef>
                <a:spcPct val="0"/>
              </a:spcBef>
            </a:pPr>
            <a:r>
              <a:rPr lang="en-US" sz="268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2. The client sends a S</a:t>
            </a:r>
            <a:r>
              <a:rPr lang="en-US" sz="268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YN (synchronization) packet and enters </a:t>
            </a:r>
          </a:p>
          <a:p>
            <a:pPr algn="ctr">
              <a:lnSpc>
                <a:spcPts val="3764"/>
              </a:lnSpc>
              <a:spcBef>
                <a:spcPct val="0"/>
              </a:spcBef>
            </a:pPr>
            <a:r>
              <a:rPr lang="en-US" sz="268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the SYN SENT (synchronization sent) state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33959" y="4251325"/>
            <a:ext cx="6454041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3. The serve</a:t>
            </a:r>
            <a:r>
              <a:rPr lang="en-US" sz="24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 receives SYN, replies SYN-ACK, and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enters the SYN RECEIVED (synchronous received) state.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33959" y="6323776"/>
            <a:ext cx="6454041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4. The client receives S</a:t>
            </a:r>
            <a:r>
              <a:rPr lang="en-US" sz="25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YN-ACK, replies ACK (confirmation), 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and enters the ESTABLISHED state.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33959" y="8236585"/>
            <a:ext cx="6454041" cy="197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5. The server </a:t>
            </a: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receives ACK and enters the ESTABLISHED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state, and the connection is established.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208" y="1028700"/>
            <a:ext cx="16919585" cy="4548504"/>
            <a:chOff x="0" y="0"/>
            <a:chExt cx="4456187" cy="1197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6187" cy="1197960"/>
            </a:xfrm>
            <a:custGeom>
              <a:avLst/>
              <a:gdLst/>
              <a:ahLst/>
              <a:cxnLst/>
              <a:rect r="r" b="b" t="t" l="l"/>
              <a:pathLst>
                <a:path h="1197960" w="4456187">
                  <a:moveTo>
                    <a:pt x="0" y="0"/>
                  </a:moveTo>
                  <a:lnTo>
                    <a:pt x="4456187" y="0"/>
                  </a:lnTo>
                  <a:lnTo>
                    <a:pt x="4456187" y="1197960"/>
                  </a:lnTo>
                  <a:lnTo>
                    <a:pt x="0" y="1197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56187" cy="1245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u="sng">
                  <a:solidFill>
                    <a:srgbClr val="004AA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Browsing the web (HTTP/HTTPS over TCP/IP)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Real-world scenario: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You type "baidu.com" in the Chrome browser on your phone or computer and press Enter.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</a:t>
              </a: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现实场景：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你在手机或电脑上的 Chrome 浏览器输入 “baidu.com”，按下回车）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What happens behind the scenes（背后发生的事）: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browser first resolves the IP address of baidu.com through DNS (based on UDP or TCP);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（浏览器首先通过 DNS（基于 UDP 或 TCP）解析 baidu.com 的 IP 地址）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Then establishes a connection with Baidu's server through TCP (three-way handshake);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（然后通过 TCP 建立与百度服务器的连接（三次握手））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Finally, HTTP or HTTPS is used to download the web page content and present it in the browser.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（最后使用 HTTP 或 HTTPS 下载网页内容并在浏览器中呈现出来）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-99060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5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REAL – LIFE TCP/IP USE CASE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4208" y="5737834"/>
            <a:ext cx="16919585" cy="4986654"/>
            <a:chOff x="0" y="0"/>
            <a:chExt cx="4456187" cy="1313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56187" cy="1313358"/>
            </a:xfrm>
            <a:custGeom>
              <a:avLst/>
              <a:gdLst/>
              <a:ahLst/>
              <a:cxnLst/>
              <a:rect r="r" b="b" t="t" l="l"/>
              <a:pathLst>
                <a:path h="1313358" w="4456187">
                  <a:moveTo>
                    <a:pt x="0" y="0"/>
                  </a:moveTo>
                  <a:lnTo>
                    <a:pt x="4456187" y="0"/>
                  </a:lnTo>
                  <a:lnTo>
                    <a:pt x="4456187" y="1313358"/>
                  </a:lnTo>
                  <a:lnTo>
                    <a:pt x="0" y="1313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456187" cy="1360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u="sng">
                  <a:solidFill>
                    <a:srgbClr val="004AA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Send/receive emails (SMTP, IMAP, POP3 over TCP/IP)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Real-world scenario: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You use Apple Mail, Outlook, or 163 Mail App to send or receive emails.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</a:t>
              </a: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现实场景：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你用 Apple Mail、Outlook 或 163 邮箱 App 发送或接收邮件）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What happens behind the scenes（背后发生的事）: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hen sending emails, the client establishes a connection with the email server via TCP and uses the SMTP protocol to send emails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（发邮件时，客户端通过 TCP 与邮件服务器建立连接，使用 SMTP 协议发送邮件）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hen receiving emails, use the IMAP or POP3 protocol to synchronize with the server or download email content via TCP.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（收邮件时，使用 IMAP 或 POP3 协议通过 TCP 与服务器同步或下载邮件内容。）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208" y="1028700"/>
            <a:ext cx="16919585" cy="4548504"/>
            <a:chOff x="0" y="0"/>
            <a:chExt cx="4456187" cy="1197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6187" cy="1197960"/>
            </a:xfrm>
            <a:custGeom>
              <a:avLst/>
              <a:gdLst/>
              <a:ahLst/>
              <a:cxnLst/>
              <a:rect r="r" b="b" t="t" l="l"/>
              <a:pathLst>
                <a:path h="1197960" w="4456187">
                  <a:moveTo>
                    <a:pt x="0" y="0"/>
                  </a:moveTo>
                  <a:lnTo>
                    <a:pt x="4456187" y="0"/>
                  </a:lnTo>
                  <a:lnTo>
                    <a:pt x="4456187" y="1197960"/>
                  </a:lnTo>
                  <a:lnTo>
                    <a:pt x="0" y="1197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56187" cy="1245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u="sng">
                  <a:solidFill>
                    <a:srgbClr val="004AA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Video/Voice Calls (Zoom, Skype, WeChat Calls, etc.)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Real-world scenario: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You are having a meeting on Zoom or making a voice call on WeChat.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</a:t>
              </a: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现实场景：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你在用 Zoom 开会，或用微信打语音电话）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What happens behind the scenes（背后发生的事）: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Audi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 and video call data is transmitted using UDP (faster but may lose packets)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（音视频通话数据使用 UDP 进行传输（更快但可能丢包））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Call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establishment and parameter negotiation usually use TCP (to ensure reliability)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（通话建立和参数协商通常使用 TCP（确保可靠性））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actual voice/video data runs on UDP via RTP (Real-time Transport Protocol) to ensure low latency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（实际语音/视频数据通过 RTP（实时传输协议）运行在 UDP 上，保证低延迟）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-99060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5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REAL – LIFE TCP/IP USE CASE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4208" y="5737834"/>
            <a:ext cx="16919585" cy="4986654"/>
            <a:chOff x="0" y="0"/>
            <a:chExt cx="4456187" cy="1313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56187" cy="1313358"/>
            </a:xfrm>
            <a:custGeom>
              <a:avLst/>
              <a:gdLst/>
              <a:ahLst/>
              <a:cxnLst/>
              <a:rect r="r" b="b" t="t" l="l"/>
              <a:pathLst>
                <a:path h="1313358" w="4456187">
                  <a:moveTo>
                    <a:pt x="0" y="0"/>
                  </a:moveTo>
                  <a:lnTo>
                    <a:pt x="4456187" y="0"/>
                  </a:lnTo>
                  <a:lnTo>
                    <a:pt x="4456187" y="1313358"/>
                  </a:lnTo>
                  <a:lnTo>
                    <a:pt x="0" y="131335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456187" cy="1360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u="sng">
                  <a:solidFill>
                    <a:srgbClr val="004AA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Online games (such as Honor of Kings and Genshin Impact)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Real-world scenario: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You play games on your phone or computer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</a:t>
              </a: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现实场景：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你在手机或电脑上打游戏）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What happens behind the scenes（背后发生的事）: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The game client and server establish communication through TCP or UDP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（游戏客户端与服务器通过 TCP 或 UDP 建立通信）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UDP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is mainly used to transmit real-time action/location information that allows packet loss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（UDP 主要用于传输实时但允许丢包的动作/位置信息）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 is used for login, map loading, ranking acquisition and other parts that require reliable transmission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（TCP 用于登录、加载地图、获取排行榜等需要可靠传输的部分）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4208" y="6227624"/>
            <a:ext cx="16919585" cy="4548504"/>
            <a:chOff x="0" y="0"/>
            <a:chExt cx="4456187" cy="1197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6187" cy="1197960"/>
            </a:xfrm>
            <a:custGeom>
              <a:avLst/>
              <a:gdLst/>
              <a:ahLst/>
              <a:cxnLst/>
              <a:rect r="r" b="b" t="t" l="l"/>
              <a:pathLst>
                <a:path h="1197960" w="4456187">
                  <a:moveTo>
                    <a:pt x="0" y="0"/>
                  </a:moveTo>
                  <a:lnTo>
                    <a:pt x="4456187" y="0"/>
                  </a:lnTo>
                  <a:lnTo>
                    <a:pt x="4456187" y="1197960"/>
                  </a:lnTo>
                  <a:lnTo>
                    <a:pt x="0" y="1197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56187" cy="1245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u="sng">
                  <a:solidFill>
                    <a:srgbClr val="004AA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File transfer (such as Baidu Netdisk, SFTP)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Real-world scenario: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You download movies, upload data, or transfer work files.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</a:t>
              </a: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现实场景：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你下载电影、上传资料或传输工作文件）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What happens behind the scenes（背后发生的事）: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The pr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otocol used may be HTTP, HTTPS, FTP, or SFTP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（使用的协议可能是 HTTP、HTTPS、FTP 或 SFTP）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</a:t>
              </a: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ese protocols are based on TCP, ensuring that each file data packet is transmitted to the other party in full and in the correct order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（这些协议基于 TCP，确保每一个文件数据包都完整、顺序正确地传输到对方）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-99060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659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REAL – LIFE TCP/IP USE CASE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4208" y="1028700"/>
            <a:ext cx="16919585" cy="5003907"/>
            <a:chOff x="0" y="0"/>
            <a:chExt cx="4456187" cy="13179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56187" cy="1317901"/>
            </a:xfrm>
            <a:custGeom>
              <a:avLst/>
              <a:gdLst/>
              <a:ahLst/>
              <a:cxnLst/>
              <a:rect r="r" b="b" t="t" l="l"/>
              <a:pathLst>
                <a:path h="1317901" w="4456187">
                  <a:moveTo>
                    <a:pt x="0" y="0"/>
                  </a:moveTo>
                  <a:lnTo>
                    <a:pt x="4456187" y="0"/>
                  </a:lnTo>
                  <a:lnTo>
                    <a:pt x="4456187" y="1317901"/>
                  </a:lnTo>
                  <a:lnTo>
                    <a:pt x="0" y="13179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456187" cy="1375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u="sng">
                  <a:solidFill>
                    <a:srgbClr val="004AAD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Remote work (SSH, VPN, remote desktop)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Real-world scenario:</a:t>
              </a: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You are remotely connected to the company computer or access intranet resources at home.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</a:t>
              </a:r>
              <a:r>
                <a:rPr lang="en-US" sz="23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现实场景：</a:t>
              </a: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你在家中远程连接公司电脑或访问内网资源）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What happens behind the scenes（背后发生的事）: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Use</a:t>
              </a: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SSH to log in to the Linux server securely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（使用 SSH 安全登录 Linux 服务器）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Or</a:t>
              </a: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establish an encrypted channel through VPN (such as OpenVPN, WireGuard)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（或通过 VPN（如 OpenVPN、WireGuard）建立加密通道）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All connections and data transmission rely on TCP/IP protocol to ensure secure and reliable communication.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（所有连接和数据传输都依赖 TCP/IP 协议，确保通信安全可靠）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0492"/>
            <a:ext cx="16572351" cy="1641158"/>
            <a:chOff x="0" y="0"/>
            <a:chExt cx="4364734" cy="432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4734" cy="432239"/>
            </a:xfrm>
            <a:custGeom>
              <a:avLst/>
              <a:gdLst/>
              <a:ahLst/>
              <a:cxnLst/>
              <a:rect r="r" b="b" t="t" l="l"/>
              <a:pathLst>
                <a:path h="432239" w="4364734">
                  <a:moveTo>
                    <a:pt x="0" y="0"/>
                  </a:moveTo>
                  <a:lnTo>
                    <a:pt x="4364734" y="0"/>
                  </a:lnTo>
                  <a:lnTo>
                    <a:pt x="4364734" y="432239"/>
                  </a:lnTo>
                  <a:lnTo>
                    <a:pt x="0" y="432239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4734" cy="47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4201" y="3514725"/>
            <a:ext cx="12896850" cy="1428750"/>
            <a:chOff x="0" y="0"/>
            <a:chExt cx="3396701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Function: Replace IPv4, provide more network addresses, mobile phones, IoT devices, etc.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（作用：取代IPv4，提供更多网络地址， 手机，物联网设备等等）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4201" y="5214938"/>
            <a:ext cx="12896850" cy="1428750"/>
            <a:chOff x="0" y="0"/>
            <a:chExt cx="3396701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96701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Importance: TCP needs to be adjusted to support IPv6 to ensure speed and stability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（重要性：TCP需调整以支持IPv6，保速度和稳定）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4201" y="6919912"/>
            <a:ext cx="12896850" cy="1428750"/>
            <a:chOff x="0" y="0"/>
            <a:chExt cx="3396701" cy="376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Data: IPv6 accounted for only 15% in 2019, and 40% of global network traffic will use it in 2024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（数据：2019年IPv6仅15%，2024年全球40%网络流量使用​）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6824" y="3514725"/>
            <a:ext cx="3605626" cy="2577788"/>
            <a:chOff x="0" y="0"/>
            <a:chExt cx="949630" cy="678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630" cy="678924"/>
            </a:xfrm>
            <a:custGeom>
              <a:avLst/>
              <a:gdLst/>
              <a:ahLst/>
              <a:cxnLst/>
              <a:rect r="r" b="b" t="t" l="l"/>
              <a:pathLst>
                <a:path h="678924" w="949630">
                  <a:moveTo>
                    <a:pt x="0" y="0"/>
                  </a:moveTo>
                  <a:lnTo>
                    <a:pt x="949630" y="0"/>
                  </a:lnTo>
                  <a:lnTo>
                    <a:pt x="949630" y="678924"/>
                  </a:lnTo>
                  <a:lnTo>
                    <a:pt x="0" y="6789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9630" cy="717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95144" y="2006917"/>
            <a:ext cx="5039462" cy="1269683"/>
            <a:chOff x="0" y="0"/>
            <a:chExt cx="1327266" cy="334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66" cy="334402"/>
            </a:xfrm>
            <a:custGeom>
              <a:avLst/>
              <a:gdLst/>
              <a:ahLst/>
              <a:cxnLst/>
              <a:rect r="r" b="b" t="t" l="l"/>
              <a:pathLst>
                <a:path h="334402" w="1327266">
                  <a:moveTo>
                    <a:pt x="78349" y="0"/>
                  </a:moveTo>
                  <a:lnTo>
                    <a:pt x="1248917" y="0"/>
                  </a:lnTo>
                  <a:cubicBezTo>
                    <a:pt x="1269696" y="0"/>
                    <a:pt x="1289624" y="8255"/>
                    <a:pt x="1304318" y="22948"/>
                  </a:cubicBezTo>
                  <a:cubicBezTo>
                    <a:pt x="1319011" y="37641"/>
                    <a:pt x="1327266" y="57570"/>
                    <a:pt x="1327266" y="78349"/>
                  </a:cubicBezTo>
                  <a:lnTo>
                    <a:pt x="1327266" y="256053"/>
                  </a:lnTo>
                  <a:cubicBezTo>
                    <a:pt x="1327266" y="299324"/>
                    <a:pt x="1292188" y="334402"/>
                    <a:pt x="1248917" y="334402"/>
                  </a:cubicBezTo>
                  <a:lnTo>
                    <a:pt x="78349" y="334402"/>
                  </a:lnTo>
                  <a:cubicBezTo>
                    <a:pt x="57570" y="334402"/>
                    <a:pt x="37641" y="326147"/>
                    <a:pt x="22948" y="311454"/>
                  </a:cubicBezTo>
                  <a:cubicBezTo>
                    <a:pt x="8255" y="296761"/>
                    <a:pt x="0" y="276832"/>
                    <a:pt x="0" y="256053"/>
                  </a:cubicBezTo>
                  <a:lnTo>
                    <a:pt x="0" y="78349"/>
                  </a:lnTo>
                  <a:cubicBezTo>
                    <a:pt x="0" y="35078"/>
                    <a:pt x="35078" y="0"/>
                    <a:pt x="78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C52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66" cy="42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Current Trends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80912" y="327182"/>
            <a:ext cx="13306838" cy="10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TCP/IP Current trends or challenge​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2789" y="3834926"/>
            <a:ext cx="2813696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IPv6 is more common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IPv6更普遍​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04201" y="8543925"/>
            <a:ext cx="12896850" cy="1428750"/>
            <a:chOff x="0" y="0"/>
            <a:chExt cx="3396701" cy="376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Example: Google and AWS have fully used IPv6, and web pages load 20% faster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（例子：Google，AWS已全面使用IPv6，网页加载快20%​）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0492"/>
            <a:ext cx="16572351" cy="1641158"/>
            <a:chOff x="0" y="0"/>
            <a:chExt cx="4364734" cy="432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4734" cy="432239"/>
            </a:xfrm>
            <a:custGeom>
              <a:avLst/>
              <a:gdLst/>
              <a:ahLst/>
              <a:cxnLst/>
              <a:rect r="r" b="b" t="t" l="l"/>
              <a:pathLst>
                <a:path h="432239" w="4364734">
                  <a:moveTo>
                    <a:pt x="0" y="0"/>
                  </a:moveTo>
                  <a:lnTo>
                    <a:pt x="4364734" y="0"/>
                  </a:lnTo>
                  <a:lnTo>
                    <a:pt x="4364734" y="432239"/>
                  </a:lnTo>
                  <a:lnTo>
                    <a:pt x="0" y="432239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4734" cy="47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4201" y="3514725"/>
            <a:ext cx="12896850" cy="1455140"/>
            <a:chOff x="0" y="0"/>
            <a:chExt cx="3396701" cy="3832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6701" cy="383247"/>
            </a:xfrm>
            <a:custGeom>
              <a:avLst/>
              <a:gdLst/>
              <a:ahLst/>
              <a:cxnLst/>
              <a:rect r="r" b="b" t="t" l="l"/>
              <a:pathLst>
                <a:path h="383247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83247"/>
                  </a:lnTo>
                  <a:lnTo>
                    <a:pt x="0" y="383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6701" cy="440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Function: 5G video streaming requires ultra-fast networks, and TCP is being improved (such as the BBR algorithm).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（作用：5G的视频流需要超快网络，TCP在改进（如BBR算法））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4201" y="5214938"/>
            <a:ext cx="12896850" cy="1428750"/>
            <a:chOff x="0" y="0"/>
            <a:chExt cx="3396701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96701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Importance: If TCP is not accelerated, it will be replaced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（重要性：TCP若不加快，会被取代）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4201" y="6919912"/>
            <a:ext cx="12896850" cy="1455140"/>
            <a:chOff x="0" y="0"/>
            <a:chExt cx="3396701" cy="383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96701" cy="383247"/>
            </a:xfrm>
            <a:custGeom>
              <a:avLst/>
              <a:gdLst/>
              <a:ahLst/>
              <a:cxnLst/>
              <a:rect r="r" b="b" t="t" l="l"/>
              <a:pathLst>
                <a:path h="383247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83247"/>
                  </a:lnTo>
                  <a:lnTo>
                    <a:pt x="0" y="383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96701" cy="440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Data: In 2024, QUIC (a TCP-like rival) accounts for 30% of network traffic, and TCP efficiency is improved by 15%.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（数据：2024年，QUIC（类似TCP的对手）占30%网络流量，TCP效率提高15%。​​）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6824" y="3514725"/>
            <a:ext cx="3605626" cy="2577788"/>
            <a:chOff x="0" y="0"/>
            <a:chExt cx="949630" cy="678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630" cy="678924"/>
            </a:xfrm>
            <a:custGeom>
              <a:avLst/>
              <a:gdLst/>
              <a:ahLst/>
              <a:cxnLst/>
              <a:rect r="r" b="b" t="t" l="l"/>
              <a:pathLst>
                <a:path h="678924" w="949630">
                  <a:moveTo>
                    <a:pt x="0" y="0"/>
                  </a:moveTo>
                  <a:lnTo>
                    <a:pt x="949630" y="0"/>
                  </a:lnTo>
                  <a:lnTo>
                    <a:pt x="949630" y="678924"/>
                  </a:lnTo>
                  <a:lnTo>
                    <a:pt x="0" y="6789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9630" cy="717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95144" y="2006917"/>
            <a:ext cx="5039462" cy="1269683"/>
            <a:chOff x="0" y="0"/>
            <a:chExt cx="1327266" cy="334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66" cy="334402"/>
            </a:xfrm>
            <a:custGeom>
              <a:avLst/>
              <a:gdLst/>
              <a:ahLst/>
              <a:cxnLst/>
              <a:rect r="r" b="b" t="t" l="l"/>
              <a:pathLst>
                <a:path h="334402" w="1327266">
                  <a:moveTo>
                    <a:pt x="78349" y="0"/>
                  </a:moveTo>
                  <a:lnTo>
                    <a:pt x="1248917" y="0"/>
                  </a:lnTo>
                  <a:cubicBezTo>
                    <a:pt x="1269696" y="0"/>
                    <a:pt x="1289624" y="8255"/>
                    <a:pt x="1304318" y="22948"/>
                  </a:cubicBezTo>
                  <a:cubicBezTo>
                    <a:pt x="1319011" y="37641"/>
                    <a:pt x="1327266" y="57570"/>
                    <a:pt x="1327266" y="78349"/>
                  </a:cubicBezTo>
                  <a:lnTo>
                    <a:pt x="1327266" y="256053"/>
                  </a:lnTo>
                  <a:cubicBezTo>
                    <a:pt x="1327266" y="299324"/>
                    <a:pt x="1292188" y="334402"/>
                    <a:pt x="1248917" y="334402"/>
                  </a:cubicBezTo>
                  <a:lnTo>
                    <a:pt x="78349" y="334402"/>
                  </a:lnTo>
                  <a:cubicBezTo>
                    <a:pt x="57570" y="334402"/>
                    <a:pt x="37641" y="326147"/>
                    <a:pt x="22948" y="311454"/>
                  </a:cubicBezTo>
                  <a:cubicBezTo>
                    <a:pt x="8255" y="296761"/>
                    <a:pt x="0" y="276832"/>
                    <a:pt x="0" y="256053"/>
                  </a:cubicBezTo>
                  <a:lnTo>
                    <a:pt x="0" y="78349"/>
                  </a:lnTo>
                  <a:cubicBezTo>
                    <a:pt x="0" y="35078"/>
                    <a:pt x="35078" y="0"/>
                    <a:pt x="78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C52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66" cy="42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Current Trends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80912" y="327182"/>
            <a:ext cx="13306838" cy="10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TCP/IP Current trends or challenge​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2789" y="3834926"/>
            <a:ext cx="2813696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IFaster connection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更快连接​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04201" y="8543925"/>
            <a:ext cx="12896850" cy="1428750"/>
            <a:chOff x="0" y="0"/>
            <a:chExt cx="3396701" cy="376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Example: Nextflix uses QUIC, and video freezes are reduced by 30%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（例子：Nextflix使用QUIC，视频卡顿减少30%​）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0492"/>
            <a:ext cx="16572351" cy="1641158"/>
            <a:chOff x="0" y="0"/>
            <a:chExt cx="4364734" cy="432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4734" cy="432239"/>
            </a:xfrm>
            <a:custGeom>
              <a:avLst/>
              <a:gdLst/>
              <a:ahLst/>
              <a:cxnLst/>
              <a:rect r="r" b="b" t="t" l="l"/>
              <a:pathLst>
                <a:path h="432239" w="4364734">
                  <a:moveTo>
                    <a:pt x="0" y="0"/>
                  </a:moveTo>
                  <a:lnTo>
                    <a:pt x="4364734" y="0"/>
                  </a:lnTo>
                  <a:lnTo>
                    <a:pt x="4364734" y="432239"/>
                  </a:lnTo>
                  <a:lnTo>
                    <a:pt x="0" y="432239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4734" cy="47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4201" y="3514725"/>
            <a:ext cx="12896850" cy="1428750"/>
            <a:chOff x="0" y="0"/>
            <a:chExt cx="3396701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Function: AI helps adjust TCP, predict network congestion, and reduce data loss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（作用：AI帮忙调整TCP，预测网络堵塞，减少数据丢失​）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4201" y="5214938"/>
            <a:ext cx="12896850" cy="1428750"/>
            <a:chOff x="0" y="0"/>
            <a:chExt cx="3396701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96701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Importance: Make the network smoother, suitable for cloud services and big data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（重要性：让网络更顺畅，适合云服务和大数据​）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4201" y="6919912"/>
            <a:ext cx="12896850" cy="1428750"/>
            <a:chOff x="0" y="0"/>
            <a:chExt cx="3396701" cy="376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Data: In 2024, AI will increase TCP efficiency by 15% - 20%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（数据：2024年，AI使TCP效率提升15% - 20%​​）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6824" y="3514725"/>
            <a:ext cx="3605626" cy="2577788"/>
            <a:chOff x="0" y="0"/>
            <a:chExt cx="949630" cy="678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630" cy="678924"/>
            </a:xfrm>
            <a:custGeom>
              <a:avLst/>
              <a:gdLst/>
              <a:ahLst/>
              <a:cxnLst/>
              <a:rect r="r" b="b" t="t" l="l"/>
              <a:pathLst>
                <a:path h="678924" w="949630">
                  <a:moveTo>
                    <a:pt x="0" y="0"/>
                  </a:moveTo>
                  <a:lnTo>
                    <a:pt x="949630" y="0"/>
                  </a:lnTo>
                  <a:lnTo>
                    <a:pt x="949630" y="678924"/>
                  </a:lnTo>
                  <a:lnTo>
                    <a:pt x="0" y="6789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9630" cy="717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95144" y="2006917"/>
            <a:ext cx="5039462" cy="1269683"/>
            <a:chOff x="0" y="0"/>
            <a:chExt cx="1327266" cy="334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66" cy="334402"/>
            </a:xfrm>
            <a:custGeom>
              <a:avLst/>
              <a:gdLst/>
              <a:ahLst/>
              <a:cxnLst/>
              <a:rect r="r" b="b" t="t" l="l"/>
              <a:pathLst>
                <a:path h="334402" w="1327266">
                  <a:moveTo>
                    <a:pt x="78349" y="0"/>
                  </a:moveTo>
                  <a:lnTo>
                    <a:pt x="1248917" y="0"/>
                  </a:lnTo>
                  <a:cubicBezTo>
                    <a:pt x="1269696" y="0"/>
                    <a:pt x="1289624" y="8255"/>
                    <a:pt x="1304318" y="22948"/>
                  </a:cubicBezTo>
                  <a:cubicBezTo>
                    <a:pt x="1319011" y="37641"/>
                    <a:pt x="1327266" y="57570"/>
                    <a:pt x="1327266" y="78349"/>
                  </a:cubicBezTo>
                  <a:lnTo>
                    <a:pt x="1327266" y="256053"/>
                  </a:lnTo>
                  <a:cubicBezTo>
                    <a:pt x="1327266" y="299324"/>
                    <a:pt x="1292188" y="334402"/>
                    <a:pt x="1248917" y="334402"/>
                  </a:cubicBezTo>
                  <a:lnTo>
                    <a:pt x="78349" y="334402"/>
                  </a:lnTo>
                  <a:cubicBezTo>
                    <a:pt x="57570" y="334402"/>
                    <a:pt x="37641" y="326147"/>
                    <a:pt x="22948" y="311454"/>
                  </a:cubicBezTo>
                  <a:cubicBezTo>
                    <a:pt x="8255" y="296761"/>
                    <a:pt x="0" y="276832"/>
                    <a:pt x="0" y="256053"/>
                  </a:cubicBezTo>
                  <a:lnTo>
                    <a:pt x="0" y="78349"/>
                  </a:lnTo>
                  <a:cubicBezTo>
                    <a:pt x="0" y="35078"/>
                    <a:pt x="35078" y="0"/>
                    <a:pt x="78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C52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66" cy="42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Current Trends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80912" y="327182"/>
            <a:ext cx="13306838" cy="10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TCP/IP Current trends or challenge​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2789" y="3834926"/>
            <a:ext cx="2813696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 optimization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AI优化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04201" y="8543925"/>
            <a:ext cx="12896850" cy="1698269"/>
            <a:chOff x="0" y="0"/>
            <a:chExt cx="3396701" cy="4472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6701" cy="447281"/>
            </a:xfrm>
            <a:custGeom>
              <a:avLst/>
              <a:gdLst/>
              <a:ahLst/>
              <a:cxnLst/>
              <a:rect r="r" b="b" t="t" l="l"/>
              <a:pathLst>
                <a:path h="447281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447281"/>
                  </a:lnTo>
                  <a:lnTo>
                    <a:pt x="0" y="4472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396701" cy="5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Example: Cisco uses AI to optimize enterprise networks, and data transmission is 10% faster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（例子：Cisco用AI优化企业网络，数据传输快10%​）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5427" y="842225"/>
            <a:ext cx="11777146" cy="1543050"/>
            <a:chOff x="0" y="0"/>
            <a:chExt cx="3101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1800" cy="406400"/>
            </a:xfrm>
            <a:custGeom>
              <a:avLst/>
              <a:gdLst/>
              <a:ahLst/>
              <a:cxnLst/>
              <a:rect r="r" b="b" t="t" l="l"/>
              <a:pathLst>
                <a:path h="406400" w="3101800">
                  <a:moveTo>
                    <a:pt x="2898600" y="0"/>
                  </a:moveTo>
                  <a:cubicBezTo>
                    <a:pt x="3010824" y="0"/>
                    <a:pt x="3101800" y="90976"/>
                    <a:pt x="3101800" y="203200"/>
                  </a:cubicBezTo>
                  <a:cubicBezTo>
                    <a:pt x="3101800" y="315424"/>
                    <a:pt x="3010824" y="406400"/>
                    <a:pt x="2898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31018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Current Trends Data Sheet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16471" y="3299646"/>
            <a:ext cx="16996338" cy="4449013"/>
          </a:xfrm>
          <a:custGeom>
            <a:avLst/>
            <a:gdLst/>
            <a:ahLst/>
            <a:cxnLst/>
            <a:rect r="r" b="b" t="t" l="l"/>
            <a:pathLst>
              <a:path h="4449013" w="16996338">
                <a:moveTo>
                  <a:pt x="0" y="0"/>
                </a:moveTo>
                <a:lnTo>
                  <a:pt x="16996337" y="0"/>
                </a:lnTo>
                <a:lnTo>
                  <a:pt x="16996337" y="4449012"/>
                </a:lnTo>
                <a:lnTo>
                  <a:pt x="0" y="4449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83" r="0" b="-1024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0492"/>
            <a:ext cx="16572351" cy="1641158"/>
            <a:chOff x="0" y="0"/>
            <a:chExt cx="4364734" cy="432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4734" cy="432239"/>
            </a:xfrm>
            <a:custGeom>
              <a:avLst/>
              <a:gdLst/>
              <a:ahLst/>
              <a:cxnLst/>
              <a:rect r="r" b="b" t="t" l="l"/>
              <a:pathLst>
                <a:path h="432239" w="4364734">
                  <a:moveTo>
                    <a:pt x="0" y="0"/>
                  </a:moveTo>
                  <a:lnTo>
                    <a:pt x="4364734" y="0"/>
                  </a:lnTo>
                  <a:lnTo>
                    <a:pt x="4364734" y="432239"/>
                  </a:lnTo>
                  <a:lnTo>
                    <a:pt x="0" y="432239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4734" cy="47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4201" y="3514725"/>
            <a:ext cx="12896850" cy="1428750"/>
            <a:chOff x="0" y="0"/>
            <a:chExt cx="3396701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Problem: TCP is vulnerable to hacker attacks (DDOS), paralyzing websites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（问题：TCP容易被黑客攻击（DDOS），瘫痪网站​​）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4201" y="5214938"/>
            <a:ext cx="12896850" cy="1428750"/>
            <a:chOff x="0" y="0"/>
            <a:chExt cx="3396701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96701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Impact: Additional encryption is required, increasing costs and delays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（影响：需要额外加密，增加成本和延迟​​）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4201" y="6919912"/>
            <a:ext cx="12896850" cy="1428750"/>
            <a:chOff x="0" y="0"/>
            <a:chExt cx="3396701" cy="376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Data: DDOS attacks accounted for 20% in 2019 and 35% in 2024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（数据：2019年DDOS攻击20%，2024年DDOS攻击35%​​​）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6824" y="3514725"/>
            <a:ext cx="3605626" cy="2577788"/>
            <a:chOff x="0" y="0"/>
            <a:chExt cx="949630" cy="678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630" cy="678924"/>
            </a:xfrm>
            <a:custGeom>
              <a:avLst/>
              <a:gdLst/>
              <a:ahLst/>
              <a:cxnLst/>
              <a:rect r="r" b="b" t="t" l="l"/>
              <a:pathLst>
                <a:path h="678924" w="949630">
                  <a:moveTo>
                    <a:pt x="0" y="0"/>
                  </a:moveTo>
                  <a:lnTo>
                    <a:pt x="949630" y="0"/>
                  </a:lnTo>
                  <a:lnTo>
                    <a:pt x="949630" y="678924"/>
                  </a:lnTo>
                  <a:lnTo>
                    <a:pt x="0" y="6789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9630" cy="717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95144" y="2006917"/>
            <a:ext cx="5039462" cy="1269683"/>
            <a:chOff x="0" y="0"/>
            <a:chExt cx="1327266" cy="334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66" cy="334402"/>
            </a:xfrm>
            <a:custGeom>
              <a:avLst/>
              <a:gdLst/>
              <a:ahLst/>
              <a:cxnLst/>
              <a:rect r="r" b="b" t="t" l="l"/>
              <a:pathLst>
                <a:path h="334402" w="1327266">
                  <a:moveTo>
                    <a:pt x="78349" y="0"/>
                  </a:moveTo>
                  <a:lnTo>
                    <a:pt x="1248917" y="0"/>
                  </a:lnTo>
                  <a:cubicBezTo>
                    <a:pt x="1269696" y="0"/>
                    <a:pt x="1289624" y="8255"/>
                    <a:pt x="1304318" y="22948"/>
                  </a:cubicBezTo>
                  <a:cubicBezTo>
                    <a:pt x="1319011" y="37641"/>
                    <a:pt x="1327266" y="57570"/>
                    <a:pt x="1327266" y="78349"/>
                  </a:cubicBezTo>
                  <a:lnTo>
                    <a:pt x="1327266" y="256053"/>
                  </a:lnTo>
                  <a:cubicBezTo>
                    <a:pt x="1327266" y="299324"/>
                    <a:pt x="1292188" y="334402"/>
                    <a:pt x="1248917" y="334402"/>
                  </a:cubicBezTo>
                  <a:lnTo>
                    <a:pt x="78349" y="334402"/>
                  </a:lnTo>
                  <a:cubicBezTo>
                    <a:pt x="57570" y="334402"/>
                    <a:pt x="37641" y="326147"/>
                    <a:pt x="22948" y="311454"/>
                  </a:cubicBezTo>
                  <a:cubicBezTo>
                    <a:pt x="8255" y="296761"/>
                    <a:pt x="0" y="276832"/>
                    <a:pt x="0" y="256053"/>
                  </a:cubicBezTo>
                  <a:lnTo>
                    <a:pt x="0" y="78349"/>
                  </a:lnTo>
                  <a:cubicBezTo>
                    <a:pt x="0" y="35078"/>
                    <a:pt x="35078" y="0"/>
                    <a:pt x="78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C52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66" cy="42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Challenge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80912" y="327182"/>
            <a:ext cx="13306838" cy="10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TCP/IP Current trends or challenge​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824" y="3834926"/>
            <a:ext cx="3605626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Many network attacks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网络攻击多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04201" y="8543925"/>
            <a:ext cx="12896850" cy="1698269"/>
            <a:chOff x="0" y="0"/>
            <a:chExt cx="3396701" cy="4472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6701" cy="447281"/>
            </a:xfrm>
            <a:custGeom>
              <a:avLst/>
              <a:gdLst/>
              <a:ahLst/>
              <a:cxnLst/>
              <a:rect r="r" b="b" t="t" l="l"/>
              <a:pathLst>
                <a:path h="447281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447281"/>
                  </a:lnTo>
                  <a:lnTo>
                    <a:pt x="0" y="4472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396701" cy="5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Example: In 2023, Danske Bank was shut down for 24 hours due to an attack, with a loss of approximately $750,000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（例子：2023年丹麦银行因攻击停服24小时，损失约75万美元）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0492"/>
            <a:ext cx="16572351" cy="1641158"/>
            <a:chOff x="0" y="0"/>
            <a:chExt cx="4364734" cy="432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4734" cy="432239"/>
            </a:xfrm>
            <a:custGeom>
              <a:avLst/>
              <a:gdLst/>
              <a:ahLst/>
              <a:cxnLst/>
              <a:rect r="r" b="b" t="t" l="l"/>
              <a:pathLst>
                <a:path h="432239" w="4364734">
                  <a:moveTo>
                    <a:pt x="0" y="0"/>
                  </a:moveTo>
                  <a:lnTo>
                    <a:pt x="4364734" y="0"/>
                  </a:lnTo>
                  <a:lnTo>
                    <a:pt x="4364734" y="432239"/>
                  </a:lnTo>
                  <a:lnTo>
                    <a:pt x="0" y="432239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4734" cy="47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4201" y="3514725"/>
            <a:ext cx="12896850" cy="1428750"/>
            <a:chOff x="0" y="0"/>
            <a:chExt cx="3396701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Problem: Smart devices (refrigerators, light bulbs, etc.) are too simple to run TCP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（问题：智能设备（冰箱，灯泡等等）太简单，跑不动TCP​​​）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4201" y="5214938"/>
            <a:ext cx="12896850" cy="1428750"/>
            <a:chOff x="0" y="0"/>
            <a:chExt cx="3396701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96701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Impact: TCP may be squeezed out of the IoT market by lightweight protocols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（影响：TCP可能会被轻量协议挤出物联网市场​​​）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4201" y="6919912"/>
            <a:ext cx="12896850" cy="1428750"/>
            <a:chOff x="0" y="0"/>
            <a:chExt cx="3396701" cy="376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Data: TCP accounted for 50% of IoT devices in 2019 and 30% in 2024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（数据：2019年TCP在物联网设备占50%，2024年占30%​​​）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6824" y="3514725"/>
            <a:ext cx="3605626" cy="2577788"/>
            <a:chOff x="0" y="0"/>
            <a:chExt cx="949630" cy="678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630" cy="678924"/>
            </a:xfrm>
            <a:custGeom>
              <a:avLst/>
              <a:gdLst/>
              <a:ahLst/>
              <a:cxnLst/>
              <a:rect r="r" b="b" t="t" l="l"/>
              <a:pathLst>
                <a:path h="678924" w="949630">
                  <a:moveTo>
                    <a:pt x="0" y="0"/>
                  </a:moveTo>
                  <a:lnTo>
                    <a:pt x="949630" y="0"/>
                  </a:lnTo>
                  <a:lnTo>
                    <a:pt x="949630" y="678924"/>
                  </a:lnTo>
                  <a:lnTo>
                    <a:pt x="0" y="6789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9630" cy="717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95144" y="2006917"/>
            <a:ext cx="5039462" cy="1269683"/>
            <a:chOff x="0" y="0"/>
            <a:chExt cx="1327266" cy="334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66" cy="334402"/>
            </a:xfrm>
            <a:custGeom>
              <a:avLst/>
              <a:gdLst/>
              <a:ahLst/>
              <a:cxnLst/>
              <a:rect r="r" b="b" t="t" l="l"/>
              <a:pathLst>
                <a:path h="334402" w="1327266">
                  <a:moveTo>
                    <a:pt x="78349" y="0"/>
                  </a:moveTo>
                  <a:lnTo>
                    <a:pt x="1248917" y="0"/>
                  </a:lnTo>
                  <a:cubicBezTo>
                    <a:pt x="1269696" y="0"/>
                    <a:pt x="1289624" y="8255"/>
                    <a:pt x="1304318" y="22948"/>
                  </a:cubicBezTo>
                  <a:cubicBezTo>
                    <a:pt x="1319011" y="37641"/>
                    <a:pt x="1327266" y="57570"/>
                    <a:pt x="1327266" y="78349"/>
                  </a:cubicBezTo>
                  <a:lnTo>
                    <a:pt x="1327266" y="256053"/>
                  </a:lnTo>
                  <a:cubicBezTo>
                    <a:pt x="1327266" y="299324"/>
                    <a:pt x="1292188" y="334402"/>
                    <a:pt x="1248917" y="334402"/>
                  </a:cubicBezTo>
                  <a:lnTo>
                    <a:pt x="78349" y="334402"/>
                  </a:lnTo>
                  <a:cubicBezTo>
                    <a:pt x="57570" y="334402"/>
                    <a:pt x="37641" y="326147"/>
                    <a:pt x="22948" y="311454"/>
                  </a:cubicBezTo>
                  <a:cubicBezTo>
                    <a:pt x="8255" y="296761"/>
                    <a:pt x="0" y="276832"/>
                    <a:pt x="0" y="256053"/>
                  </a:cubicBezTo>
                  <a:lnTo>
                    <a:pt x="0" y="78349"/>
                  </a:lnTo>
                  <a:cubicBezTo>
                    <a:pt x="0" y="35078"/>
                    <a:pt x="35078" y="0"/>
                    <a:pt x="78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C52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66" cy="42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Challenge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80912" y="327182"/>
            <a:ext cx="13306838" cy="10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TCP/IP Current trends or challenge​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824" y="3834926"/>
            <a:ext cx="3605626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IoT is not adaptable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物联</a:t>
            </a: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网不适应​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04201" y="8543925"/>
            <a:ext cx="12896850" cy="1428750"/>
            <a:chOff x="0" y="0"/>
            <a:chExt cx="3396701" cy="376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Example: Smart homes switch to MQTT, saving up to 50% of electricity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（例子：智能家居改用MQTT，省电高达50%）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0492"/>
            <a:ext cx="16572351" cy="1641158"/>
            <a:chOff x="0" y="0"/>
            <a:chExt cx="4364734" cy="4322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4734" cy="432239"/>
            </a:xfrm>
            <a:custGeom>
              <a:avLst/>
              <a:gdLst/>
              <a:ahLst/>
              <a:cxnLst/>
              <a:rect r="r" b="b" t="t" l="l"/>
              <a:pathLst>
                <a:path h="432239" w="4364734">
                  <a:moveTo>
                    <a:pt x="0" y="0"/>
                  </a:moveTo>
                  <a:lnTo>
                    <a:pt x="4364734" y="0"/>
                  </a:lnTo>
                  <a:lnTo>
                    <a:pt x="4364734" y="432239"/>
                  </a:lnTo>
                  <a:lnTo>
                    <a:pt x="0" y="432239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64734" cy="470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04201" y="3514725"/>
            <a:ext cx="12896850" cy="1428750"/>
            <a:chOff x="0" y="0"/>
            <a:chExt cx="3396701" cy="376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Problem: The future 6G network is super fast, and TCP will become a drag if it is not improved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（问题：未来6G网络超快，TCP不改进就变成拖后腿​​​​）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04201" y="5214938"/>
            <a:ext cx="12896850" cy="1428750"/>
            <a:chOff x="0" y="0"/>
            <a:chExt cx="3396701" cy="376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396701" cy="423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Impact: Slow transmission of large files affects the cloud and gaming experience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（影响：大文件传输慢，影响云端和游戏的体验​​​​）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04201" y="6919912"/>
            <a:ext cx="12896850" cy="1428750"/>
            <a:chOff x="0" y="0"/>
            <a:chExt cx="3396701" cy="376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Data: In 2024, TCP speed will only reach 60% of the theoretical speed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（数据：2024年，TCP速度只达到了理论上的60%​​​​）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6824" y="3514725"/>
            <a:ext cx="3605626" cy="2577788"/>
            <a:chOff x="0" y="0"/>
            <a:chExt cx="949630" cy="6789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630" cy="678924"/>
            </a:xfrm>
            <a:custGeom>
              <a:avLst/>
              <a:gdLst/>
              <a:ahLst/>
              <a:cxnLst/>
              <a:rect r="r" b="b" t="t" l="l"/>
              <a:pathLst>
                <a:path h="678924" w="949630">
                  <a:moveTo>
                    <a:pt x="0" y="0"/>
                  </a:moveTo>
                  <a:lnTo>
                    <a:pt x="949630" y="0"/>
                  </a:lnTo>
                  <a:lnTo>
                    <a:pt x="949630" y="678924"/>
                  </a:lnTo>
                  <a:lnTo>
                    <a:pt x="0" y="678924"/>
                  </a:lnTo>
                  <a:close/>
                </a:path>
              </a:pathLst>
            </a:custGeom>
            <a:solidFill>
              <a:srgbClr val="4C5270"/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49630" cy="717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95144" y="2006917"/>
            <a:ext cx="5039462" cy="1269683"/>
            <a:chOff x="0" y="0"/>
            <a:chExt cx="1327266" cy="3344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7266" cy="334402"/>
            </a:xfrm>
            <a:custGeom>
              <a:avLst/>
              <a:gdLst/>
              <a:ahLst/>
              <a:cxnLst/>
              <a:rect r="r" b="b" t="t" l="l"/>
              <a:pathLst>
                <a:path h="334402" w="1327266">
                  <a:moveTo>
                    <a:pt x="78349" y="0"/>
                  </a:moveTo>
                  <a:lnTo>
                    <a:pt x="1248917" y="0"/>
                  </a:lnTo>
                  <a:cubicBezTo>
                    <a:pt x="1269696" y="0"/>
                    <a:pt x="1289624" y="8255"/>
                    <a:pt x="1304318" y="22948"/>
                  </a:cubicBezTo>
                  <a:cubicBezTo>
                    <a:pt x="1319011" y="37641"/>
                    <a:pt x="1327266" y="57570"/>
                    <a:pt x="1327266" y="78349"/>
                  </a:cubicBezTo>
                  <a:lnTo>
                    <a:pt x="1327266" y="256053"/>
                  </a:lnTo>
                  <a:cubicBezTo>
                    <a:pt x="1327266" y="299324"/>
                    <a:pt x="1292188" y="334402"/>
                    <a:pt x="1248917" y="334402"/>
                  </a:cubicBezTo>
                  <a:lnTo>
                    <a:pt x="78349" y="334402"/>
                  </a:lnTo>
                  <a:cubicBezTo>
                    <a:pt x="57570" y="334402"/>
                    <a:pt x="37641" y="326147"/>
                    <a:pt x="22948" y="311454"/>
                  </a:cubicBezTo>
                  <a:cubicBezTo>
                    <a:pt x="8255" y="296761"/>
                    <a:pt x="0" y="276832"/>
                    <a:pt x="0" y="256053"/>
                  </a:cubicBezTo>
                  <a:lnTo>
                    <a:pt x="0" y="78349"/>
                  </a:lnTo>
                  <a:cubicBezTo>
                    <a:pt x="0" y="35078"/>
                    <a:pt x="35078" y="0"/>
                    <a:pt x="78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C52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327266" cy="42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019"/>
                </a:lnSpc>
              </a:pPr>
              <a:r>
                <a:rPr lang="en-US" sz="42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Challenge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80912" y="327182"/>
            <a:ext cx="13306838" cy="107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TCP/IP Current trends or challenge​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824" y="3834926"/>
            <a:ext cx="3605626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Speed ​​cannot keep up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速度跟</a:t>
            </a:r>
            <a:r>
              <a:rPr lang="en-US" b="true" sz="36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不上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04201" y="8543925"/>
            <a:ext cx="12896850" cy="1428750"/>
            <a:chOff x="0" y="0"/>
            <a:chExt cx="3396701" cy="3762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6701" cy="376296"/>
            </a:xfrm>
            <a:custGeom>
              <a:avLst/>
              <a:gdLst/>
              <a:ahLst/>
              <a:cxnLst/>
              <a:rect r="r" b="b" t="t" l="l"/>
              <a:pathLst>
                <a:path h="376296" w="3396701">
                  <a:moveTo>
                    <a:pt x="0" y="0"/>
                  </a:moveTo>
                  <a:lnTo>
                    <a:pt x="3396701" y="0"/>
                  </a:lnTo>
                  <a:lnTo>
                    <a:pt x="3396701" y="376296"/>
                  </a:lnTo>
                  <a:lnTo>
                    <a:pt x="0" y="3762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4C52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396701" cy="4334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Example: Data center has 15% more transmission delay due to slow TCP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（例子：数据中心因TCP慢，传输数据延迟多15%）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5427" y="1028700"/>
            <a:ext cx="11777146" cy="1543050"/>
            <a:chOff x="0" y="0"/>
            <a:chExt cx="310180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01800" cy="406400"/>
            </a:xfrm>
            <a:custGeom>
              <a:avLst/>
              <a:gdLst/>
              <a:ahLst/>
              <a:cxnLst/>
              <a:rect r="r" b="b" t="t" l="l"/>
              <a:pathLst>
                <a:path h="406400" w="3101800">
                  <a:moveTo>
                    <a:pt x="2898600" y="0"/>
                  </a:moveTo>
                  <a:cubicBezTo>
                    <a:pt x="3010824" y="0"/>
                    <a:pt x="3101800" y="90976"/>
                    <a:pt x="3101800" y="203200"/>
                  </a:cubicBezTo>
                  <a:cubicBezTo>
                    <a:pt x="3101800" y="315424"/>
                    <a:pt x="3010824" y="406400"/>
                    <a:pt x="2898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31018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9"/>
                </a:lnSpc>
              </a:pPr>
              <a:r>
                <a:rPr lang="en-US" sz="5999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Current Trends Data Sheet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6075" y="3815692"/>
            <a:ext cx="17655850" cy="4565011"/>
          </a:xfrm>
          <a:custGeom>
            <a:avLst/>
            <a:gdLst/>
            <a:ahLst/>
            <a:cxnLst/>
            <a:rect r="r" b="b" t="t" l="l"/>
            <a:pathLst>
              <a:path h="4565011" w="17655850">
                <a:moveTo>
                  <a:pt x="0" y="0"/>
                </a:moveTo>
                <a:lnTo>
                  <a:pt x="17655850" y="0"/>
                </a:lnTo>
                <a:lnTo>
                  <a:pt x="17655850" y="4565010"/>
                </a:lnTo>
                <a:lnTo>
                  <a:pt x="0" y="4565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41" y="348234"/>
            <a:ext cx="17580614" cy="1360932"/>
            <a:chOff x="0" y="0"/>
            <a:chExt cx="4630285" cy="358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0285" cy="358435"/>
            </a:xfrm>
            <a:custGeom>
              <a:avLst/>
              <a:gdLst/>
              <a:ahLst/>
              <a:cxnLst/>
              <a:rect r="r" b="b" t="t" l="l"/>
              <a:pathLst>
                <a:path h="358435" w="4630285">
                  <a:moveTo>
                    <a:pt x="0" y="0"/>
                  </a:moveTo>
                  <a:lnTo>
                    <a:pt x="4427085" y="0"/>
                  </a:lnTo>
                  <a:lnTo>
                    <a:pt x="4630285" y="179217"/>
                  </a:lnTo>
                  <a:lnTo>
                    <a:pt x="4427085" y="358435"/>
                  </a:lnTo>
                  <a:lnTo>
                    <a:pt x="0" y="358435"/>
                  </a:lnTo>
                  <a:lnTo>
                    <a:pt x="203200" y="179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2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123825"/>
              <a:ext cx="4376285" cy="482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Summary and conclusion（总结）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5241" y="2036695"/>
            <a:ext cx="4360032" cy="1481454"/>
            <a:chOff x="0" y="0"/>
            <a:chExt cx="1148321" cy="3901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8321" cy="390177"/>
            </a:xfrm>
            <a:custGeom>
              <a:avLst/>
              <a:gdLst/>
              <a:ahLst/>
              <a:cxnLst/>
              <a:rect r="r" b="b" t="t" l="l"/>
              <a:pathLst>
                <a:path h="390177" w="1148321">
                  <a:moveTo>
                    <a:pt x="90558" y="0"/>
                  </a:moveTo>
                  <a:lnTo>
                    <a:pt x="1057763" y="0"/>
                  </a:lnTo>
                  <a:cubicBezTo>
                    <a:pt x="1081780" y="0"/>
                    <a:pt x="1104814" y="9541"/>
                    <a:pt x="1121797" y="26524"/>
                  </a:cubicBezTo>
                  <a:cubicBezTo>
                    <a:pt x="1138780" y="43507"/>
                    <a:pt x="1148321" y="66541"/>
                    <a:pt x="1148321" y="90558"/>
                  </a:cubicBezTo>
                  <a:lnTo>
                    <a:pt x="1148321" y="299619"/>
                  </a:lnTo>
                  <a:cubicBezTo>
                    <a:pt x="1148321" y="349633"/>
                    <a:pt x="1107777" y="390177"/>
                    <a:pt x="1057763" y="390177"/>
                  </a:cubicBezTo>
                  <a:lnTo>
                    <a:pt x="90558" y="390177"/>
                  </a:lnTo>
                  <a:cubicBezTo>
                    <a:pt x="40544" y="390177"/>
                    <a:pt x="0" y="349633"/>
                    <a:pt x="0" y="299619"/>
                  </a:cubicBezTo>
                  <a:lnTo>
                    <a:pt x="0" y="90558"/>
                  </a:lnTo>
                  <a:cubicBezTo>
                    <a:pt x="0" y="40544"/>
                    <a:pt x="40544" y="0"/>
                    <a:pt x="90558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148321" cy="48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</a:pP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TCP/IP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55273" y="2036695"/>
            <a:ext cx="13220582" cy="1481454"/>
            <a:chOff x="0" y="0"/>
            <a:chExt cx="3481964" cy="3901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1964" cy="390177"/>
            </a:xfrm>
            <a:custGeom>
              <a:avLst/>
              <a:gdLst/>
              <a:ahLst/>
              <a:cxnLst/>
              <a:rect r="r" b="b" t="t" l="l"/>
              <a:pathLst>
                <a:path h="390177" w="3481964">
                  <a:moveTo>
                    <a:pt x="3481964" y="0"/>
                  </a:moveTo>
                  <a:lnTo>
                    <a:pt x="0" y="0"/>
                  </a:lnTo>
                  <a:lnTo>
                    <a:pt x="101600" y="195089"/>
                  </a:lnTo>
                  <a:lnTo>
                    <a:pt x="0" y="390177"/>
                  </a:lnTo>
                  <a:lnTo>
                    <a:pt x="3481964" y="390177"/>
                  </a:lnTo>
                  <a:lnTo>
                    <a:pt x="3380364" y="195089"/>
                  </a:lnTo>
                  <a:lnTo>
                    <a:pt x="3481964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8900" y="-47625"/>
              <a:ext cx="3304164" cy="437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 set of communication protocols for interconnecting network devices over the Internet or a local network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（一套用于在互联网或本地网络上互连网络设备的通信协议）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5241" y="3792515"/>
            <a:ext cx="4360032" cy="1670620"/>
            <a:chOff x="0" y="0"/>
            <a:chExt cx="1148321" cy="439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8321" cy="439999"/>
            </a:xfrm>
            <a:custGeom>
              <a:avLst/>
              <a:gdLst/>
              <a:ahLst/>
              <a:cxnLst/>
              <a:rect r="r" b="b" t="t" l="l"/>
              <a:pathLst>
                <a:path h="439999" w="1148321">
                  <a:moveTo>
                    <a:pt x="90558" y="0"/>
                  </a:moveTo>
                  <a:lnTo>
                    <a:pt x="1057763" y="0"/>
                  </a:lnTo>
                  <a:cubicBezTo>
                    <a:pt x="1081780" y="0"/>
                    <a:pt x="1104814" y="9541"/>
                    <a:pt x="1121797" y="26524"/>
                  </a:cubicBezTo>
                  <a:cubicBezTo>
                    <a:pt x="1138780" y="43507"/>
                    <a:pt x="1148321" y="66541"/>
                    <a:pt x="1148321" y="90558"/>
                  </a:cubicBezTo>
                  <a:lnTo>
                    <a:pt x="1148321" y="349440"/>
                  </a:lnTo>
                  <a:cubicBezTo>
                    <a:pt x="1148321" y="373458"/>
                    <a:pt x="1138780" y="396492"/>
                    <a:pt x="1121797" y="413475"/>
                  </a:cubicBezTo>
                  <a:cubicBezTo>
                    <a:pt x="1104814" y="430458"/>
                    <a:pt x="1081780" y="439999"/>
                    <a:pt x="1057763" y="439999"/>
                  </a:cubicBezTo>
                  <a:lnTo>
                    <a:pt x="90558" y="439999"/>
                  </a:lnTo>
                  <a:cubicBezTo>
                    <a:pt x="40544" y="439999"/>
                    <a:pt x="0" y="399454"/>
                    <a:pt x="0" y="349440"/>
                  </a:cubicBezTo>
                  <a:lnTo>
                    <a:pt x="0" y="90558"/>
                  </a:lnTo>
                  <a:cubicBezTo>
                    <a:pt x="0" y="40544"/>
                    <a:pt x="40544" y="0"/>
                    <a:pt x="90558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148321" cy="535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</a:pP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Key points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55273" y="3761814"/>
            <a:ext cx="13220582" cy="1701321"/>
            <a:chOff x="0" y="0"/>
            <a:chExt cx="3481964" cy="4480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81964" cy="448085"/>
            </a:xfrm>
            <a:custGeom>
              <a:avLst/>
              <a:gdLst/>
              <a:ahLst/>
              <a:cxnLst/>
              <a:rect r="r" b="b" t="t" l="l"/>
              <a:pathLst>
                <a:path h="448085" w="3481964">
                  <a:moveTo>
                    <a:pt x="3481964" y="0"/>
                  </a:moveTo>
                  <a:lnTo>
                    <a:pt x="0" y="0"/>
                  </a:lnTo>
                  <a:lnTo>
                    <a:pt x="101600" y="224042"/>
                  </a:lnTo>
                  <a:lnTo>
                    <a:pt x="0" y="448085"/>
                  </a:lnTo>
                  <a:lnTo>
                    <a:pt x="3481964" y="448085"/>
                  </a:lnTo>
                  <a:lnTo>
                    <a:pt x="3380364" y="224042"/>
                  </a:lnTo>
                  <a:lnTo>
                    <a:pt x="3481964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8900" y="-57150"/>
              <a:ext cx="3304164" cy="50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Layered collaboration: TCP/IP is modularized through layered design, and each layer has a clear division of labor.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（分层协作：TCP/IP通过分层设计实现模块化，各层分工明确。）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55273" y="5463135"/>
            <a:ext cx="13220582" cy="1701321"/>
            <a:chOff x="0" y="0"/>
            <a:chExt cx="3481964" cy="4480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81964" cy="448085"/>
            </a:xfrm>
            <a:custGeom>
              <a:avLst/>
              <a:gdLst/>
              <a:ahLst/>
              <a:cxnLst/>
              <a:rect r="r" b="b" t="t" l="l"/>
              <a:pathLst>
                <a:path h="448085" w="3481964">
                  <a:moveTo>
                    <a:pt x="3481964" y="0"/>
                  </a:moveTo>
                  <a:lnTo>
                    <a:pt x="0" y="0"/>
                  </a:lnTo>
                  <a:lnTo>
                    <a:pt x="101600" y="224042"/>
                  </a:lnTo>
                  <a:lnTo>
                    <a:pt x="0" y="448085"/>
                  </a:lnTo>
                  <a:lnTo>
                    <a:pt x="3481964" y="448085"/>
                  </a:lnTo>
                  <a:lnTo>
                    <a:pt x="3380364" y="224042"/>
                  </a:lnTo>
                  <a:lnTo>
                    <a:pt x="3481964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8900" y="-57150"/>
              <a:ext cx="3304164" cy="50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 reliability: three-way handshake, four-way handshake, sequence number, confirmation mechanism, retransmission and flow control ensure reliable transmission.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（TCP可靠性：三次握手、四次挥手、序列号、确认机制、重传和流量控制确保可靠传输）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55273" y="7164456"/>
            <a:ext cx="13220582" cy="1701321"/>
            <a:chOff x="0" y="0"/>
            <a:chExt cx="3481964" cy="4480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81964" cy="448085"/>
            </a:xfrm>
            <a:custGeom>
              <a:avLst/>
              <a:gdLst/>
              <a:ahLst/>
              <a:cxnLst/>
              <a:rect r="r" b="b" t="t" l="l"/>
              <a:pathLst>
                <a:path h="448085" w="3481964">
                  <a:moveTo>
                    <a:pt x="3481964" y="0"/>
                  </a:moveTo>
                  <a:lnTo>
                    <a:pt x="0" y="0"/>
                  </a:lnTo>
                  <a:lnTo>
                    <a:pt x="101600" y="224042"/>
                  </a:lnTo>
                  <a:lnTo>
                    <a:pt x="0" y="448085"/>
                  </a:lnTo>
                  <a:lnTo>
                    <a:pt x="3481964" y="448085"/>
                  </a:lnTo>
                  <a:lnTo>
                    <a:pt x="3380364" y="224042"/>
                  </a:lnTo>
                  <a:lnTo>
                    <a:pt x="3481964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88900" y="-57150"/>
              <a:ext cx="3304164" cy="50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 flexibility: connectionless routing, adapting to complex network environments.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（IP灵活性：无连接路由，适应复杂网络环境。）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55273" y="8865778"/>
            <a:ext cx="13220582" cy="1701321"/>
            <a:chOff x="0" y="0"/>
            <a:chExt cx="3481964" cy="4480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81964" cy="448085"/>
            </a:xfrm>
            <a:custGeom>
              <a:avLst/>
              <a:gdLst/>
              <a:ahLst/>
              <a:cxnLst/>
              <a:rect r="r" b="b" t="t" l="l"/>
              <a:pathLst>
                <a:path h="448085" w="3481964">
                  <a:moveTo>
                    <a:pt x="3481964" y="0"/>
                  </a:moveTo>
                  <a:lnTo>
                    <a:pt x="0" y="0"/>
                  </a:lnTo>
                  <a:lnTo>
                    <a:pt x="101600" y="224042"/>
                  </a:lnTo>
                  <a:lnTo>
                    <a:pt x="0" y="448085"/>
                  </a:lnTo>
                  <a:lnTo>
                    <a:pt x="3481964" y="448085"/>
                  </a:lnTo>
                  <a:lnTo>
                    <a:pt x="3380364" y="224042"/>
                  </a:lnTo>
                  <a:lnTo>
                    <a:pt x="3481964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88900" y="-57150"/>
              <a:ext cx="3304164" cy="505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Encapsulation mechanism: adding/stripping headers layer by layer to ensure data transmission between different layers.</a:t>
              </a:r>
            </a:p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（封装机制：逐层添加/剥离头部，保证数据在不同层之间的传递。）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7093" y="6775322"/>
            <a:ext cx="4477595" cy="2479590"/>
            <a:chOff x="0" y="0"/>
            <a:chExt cx="5970127" cy="3306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35182" cy="2979931"/>
            </a:xfrm>
            <a:custGeom>
              <a:avLst/>
              <a:gdLst/>
              <a:ahLst/>
              <a:cxnLst/>
              <a:rect r="r" b="b" t="t" l="l"/>
              <a:pathLst>
                <a:path h="2979931" w="2335182">
                  <a:moveTo>
                    <a:pt x="0" y="0"/>
                  </a:moveTo>
                  <a:lnTo>
                    <a:pt x="2335182" y="0"/>
                  </a:lnTo>
                  <a:lnTo>
                    <a:pt x="2335182" y="2979931"/>
                  </a:lnTo>
                  <a:lnTo>
                    <a:pt x="0" y="297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true" flipV="false" rot="0">
              <a:off x="3634945" y="326189"/>
              <a:ext cx="2335182" cy="2979931"/>
            </a:xfrm>
            <a:custGeom>
              <a:avLst/>
              <a:gdLst/>
              <a:ahLst/>
              <a:cxnLst/>
              <a:rect r="r" b="b" t="t" l="l"/>
              <a:pathLst>
                <a:path h="2979931" w="2335182">
                  <a:moveTo>
                    <a:pt x="2335182" y="0"/>
                  </a:moveTo>
                  <a:lnTo>
                    <a:pt x="0" y="0"/>
                  </a:lnTo>
                  <a:lnTo>
                    <a:pt x="0" y="2979931"/>
                  </a:lnTo>
                  <a:lnTo>
                    <a:pt x="2335182" y="2979931"/>
                  </a:lnTo>
                  <a:lnTo>
                    <a:pt x="233518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142823" y="2809456"/>
              <a:ext cx="1886110" cy="305407"/>
            </a:xfrm>
            <a:custGeom>
              <a:avLst/>
              <a:gdLst/>
              <a:ahLst/>
              <a:cxnLst/>
              <a:rect r="r" b="b" t="t" l="l"/>
              <a:pathLst>
                <a:path h="305407" w="1886110">
                  <a:moveTo>
                    <a:pt x="0" y="0"/>
                  </a:moveTo>
                  <a:lnTo>
                    <a:pt x="1886111" y="0"/>
                  </a:lnTo>
                  <a:lnTo>
                    <a:pt x="1886111" y="305407"/>
                  </a:lnTo>
                  <a:lnTo>
                    <a:pt x="0" y="30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36042" y="2979931"/>
              <a:ext cx="1841638" cy="305407"/>
            </a:xfrm>
            <a:custGeom>
              <a:avLst/>
              <a:gdLst/>
              <a:ahLst/>
              <a:cxnLst/>
              <a:rect r="r" b="b" t="t" l="l"/>
              <a:pathLst>
                <a:path h="305407" w="1841638">
                  <a:moveTo>
                    <a:pt x="0" y="0"/>
                  </a:moveTo>
                  <a:lnTo>
                    <a:pt x="1841638" y="0"/>
                  </a:lnTo>
                  <a:lnTo>
                    <a:pt x="1841638" y="305407"/>
                  </a:lnTo>
                  <a:lnTo>
                    <a:pt x="0" y="30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-2414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41" y="348234"/>
            <a:ext cx="17580614" cy="1360932"/>
            <a:chOff x="0" y="0"/>
            <a:chExt cx="4630285" cy="358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0285" cy="358435"/>
            </a:xfrm>
            <a:custGeom>
              <a:avLst/>
              <a:gdLst/>
              <a:ahLst/>
              <a:cxnLst/>
              <a:rect r="r" b="b" t="t" l="l"/>
              <a:pathLst>
                <a:path h="358435" w="4630285">
                  <a:moveTo>
                    <a:pt x="0" y="0"/>
                  </a:moveTo>
                  <a:lnTo>
                    <a:pt x="4427085" y="0"/>
                  </a:lnTo>
                  <a:lnTo>
                    <a:pt x="4630285" y="179217"/>
                  </a:lnTo>
                  <a:lnTo>
                    <a:pt x="4427085" y="358435"/>
                  </a:lnTo>
                  <a:lnTo>
                    <a:pt x="0" y="358435"/>
                  </a:lnTo>
                  <a:lnTo>
                    <a:pt x="203200" y="179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2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123825"/>
              <a:ext cx="4376285" cy="482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Summary and conclusion（总结）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875" y="3795768"/>
            <a:ext cx="4360032" cy="2695465"/>
            <a:chOff x="0" y="0"/>
            <a:chExt cx="1148321" cy="709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8321" cy="709917"/>
            </a:xfrm>
            <a:custGeom>
              <a:avLst/>
              <a:gdLst/>
              <a:ahLst/>
              <a:cxnLst/>
              <a:rect r="r" b="b" t="t" l="l"/>
              <a:pathLst>
                <a:path h="709917" w="1148321">
                  <a:moveTo>
                    <a:pt x="90558" y="0"/>
                  </a:moveTo>
                  <a:lnTo>
                    <a:pt x="1057763" y="0"/>
                  </a:lnTo>
                  <a:cubicBezTo>
                    <a:pt x="1081780" y="0"/>
                    <a:pt x="1104814" y="9541"/>
                    <a:pt x="1121797" y="26524"/>
                  </a:cubicBezTo>
                  <a:cubicBezTo>
                    <a:pt x="1138780" y="43507"/>
                    <a:pt x="1148321" y="66541"/>
                    <a:pt x="1148321" y="90558"/>
                  </a:cubicBezTo>
                  <a:lnTo>
                    <a:pt x="1148321" y="619358"/>
                  </a:lnTo>
                  <a:cubicBezTo>
                    <a:pt x="1148321" y="669372"/>
                    <a:pt x="1107777" y="709917"/>
                    <a:pt x="1057763" y="709917"/>
                  </a:cubicBezTo>
                  <a:lnTo>
                    <a:pt x="90558" y="709917"/>
                  </a:lnTo>
                  <a:cubicBezTo>
                    <a:pt x="66541" y="709917"/>
                    <a:pt x="43507" y="700376"/>
                    <a:pt x="26524" y="683393"/>
                  </a:cubicBezTo>
                  <a:cubicBezTo>
                    <a:pt x="9541" y="666410"/>
                    <a:pt x="0" y="643376"/>
                    <a:pt x="0" y="619358"/>
                  </a:cubicBezTo>
                  <a:lnTo>
                    <a:pt x="0" y="90558"/>
                  </a:lnTo>
                  <a:cubicBezTo>
                    <a:pt x="0" y="40544"/>
                    <a:pt x="40544" y="0"/>
                    <a:pt x="90558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148321" cy="80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</a:pP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How TCP/IP works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27093" y="6775322"/>
            <a:ext cx="4477595" cy="2479590"/>
            <a:chOff x="0" y="0"/>
            <a:chExt cx="5970127" cy="3306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5182" cy="2979931"/>
            </a:xfrm>
            <a:custGeom>
              <a:avLst/>
              <a:gdLst/>
              <a:ahLst/>
              <a:cxnLst/>
              <a:rect r="r" b="b" t="t" l="l"/>
              <a:pathLst>
                <a:path h="2979931" w="2335182">
                  <a:moveTo>
                    <a:pt x="0" y="0"/>
                  </a:moveTo>
                  <a:lnTo>
                    <a:pt x="2335182" y="0"/>
                  </a:lnTo>
                  <a:lnTo>
                    <a:pt x="2335182" y="2979931"/>
                  </a:lnTo>
                  <a:lnTo>
                    <a:pt x="0" y="2979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false" rot="0">
              <a:off x="3634945" y="326189"/>
              <a:ext cx="2335182" cy="2979931"/>
            </a:xfrm>
            <a:custGeom>
              <a:avLst/>
              <a:gdLst/>
              <a:ahLst/>
              <a:cxnLst/>
              <a:rect r="r" b="b" t="t" l="l"/>
              <a:pathLst>
                <a:path h="2979931" w="2335182">
                  <a:moveTo>
                    <a:pt x="2335182" y="0"/>
                  </a:moveTo>
                  <a:lnTo>
                    <a:pt x="0" y="0"/>
                  </a:lnTo>
                  <a:lnTo>
                    <a:pt x="0" y="2979931"/>
                  </a:lnTo>
                  <a:lnTo>
                    <a:pt x="2335182" y="2979931"/>
                  </a:lnTo>
                  <a:lnTo>
                    <a:pt x="233518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42823" y="2809456"/>
              <a:ext cx="1886110" cy="305407"/>
            </a:xfrm>
            <a:custGeom>
              <a:avLst/>
              <a:gdLst/>
              <a:ahLst/>
              <a:cxnLst/>
              <a:rect r="r" b="b" t="t" l="l"/>
              <a:pathLst>
                <a:path h="305407" w="1886110">
                  <a:moveTo>
                    <a:pt x="0" y="0"/>
                  </a:moveTo>
                  <a:lnTo>
                    <a:pt x="1886111" y="0"/>
                  </a:lnTo>
                  <a:lnTo>
                    <a:pt x="1886111" y="305407"/>
                  </a:lnTo>
                  <a:lnTo>
                    <a:pt x="0" y="30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36042" y="2979931"/>
              <a:ext cx="1841638" cy="305407"/>
            </a:xfrm>
            <a:custGeom>
              <a:avLst/>
              <a:gdLst/>
              <a:ahLst/>
              <a:cxnLst/>
              <a:rect r="r" b="b" t="t" l="l"/>
              <a:pathLst>
                <a:path h="305407" w="1841638">
                  <a:moveTo>
                    <a:pt x="0" y="0"/>
                  </a:moveTo>
                  <a:lnTo>
                    <a:pt x="1841638" y="0"/>
                  </a:lnTo>
                  <a:lnTo>
                    <a:pt x="1841638" y="305407"/>
                  </a:lnTo>
                  <a:lnTo>
                    <a:pt x="0" y="30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688085" r="-241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166325" y="1979828"/>
            <a:ext cx="12909530" cy="2121484"/>
            <a:chOff x="0" y="0"/>
            <a:chExt cx="3400041" cy="558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00041" cy="558745"/>
            </a:xfrm>
            <a:custGeom>
              <a:avLst/>
              <a:gdLst/>
              <a:ahLst/>
              <a:cxnLst/>
              <a:rect r="r" b="b" t="t" l="l"/>
              <a:pathLst>
                <a:path h="558745" w="3400041">
                  <a:moveTo>
                    <a:pt x="3400041" y="0"/>
                  </a:moveTo>
                  <a:lnTo>
                    <a:pt x="0" y="0"/>
                  </a:lnTo>
                  <a:lnTo>
                    <a:pt x="101600" y="279372"/>
                  </a:lnTo>
                  <a:lnTo>
                    <a:pt x="0" y="558745"/>
                  </a:lnTo>
                  <a:lnTo>
                    <a:pt x="3400041" y="558745"/>
                  </a:lnTo>
                  <a:lnTo>
                    <a:pt x="3298441" y="279372"/>
                  </a:lnTo>
                  <a:lnTo>
                    <a:pt x="3400041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88900" y="-57150"/>
              <a:ext cx="3222241" cy="615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Data transmission process（数据传输流程）</a:t>
              </a:r>
            </a:p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（Use TCP/IP four-layer architecture and protocols）</a:t>
              </a:r>
            </a:p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(使用四层的构架和协议)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66325" y="8470772"/>
            <a:ext cx="12909530" cy="1910969"/>
            <a:chOff x="0" y="0"/>
            <a:chExt cx="3400041" cy="503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00041" cy="503300"/>
            </a:xfrm>
            <a:custGeom>
              <a:avLst/>
              <a:gdLst/>
              <a:ahLst/>
              <a:cxnLst/>
              <a:rect r="r" b="b" t="t" l="l"/>
              <a:pathLst>
                <a:path h="503300" w="3400041">
                  <a:moveTo>
                    <a:pt x="3400041" y="0"/>
                  </a:moveTo>
                  <a:lnTo>
                    <a:pt x="0" y="0"/>
                  </a:lnTo>
                  <a:lnTo>
                    <a:pt x="101600" y="251650"/>
                  </a:lnTo>
                  <a:lnTo>
                    <a:pt x="0" y="503300"/>
                  </a:lnTo>
                  <a:lnTo>
                    <a:pt x="3400041" y="503300"/>
                  </a:lnTo>
                  <a:lnTo>
                    <a:pt x="3298441" y="251650"/>
                  </a:lnTo>
                  <a:lnTo>
                    <a:pt x="3400041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88900" y="-38100"/>
              <a:ext cx="3222241" cy="541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Error handling（错误处理）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TCP: handles errors through retransmission, checksum (verify data integrity).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（TCP：通过重传、校验和（验证数据完整性）处理错误。）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IP: packets may be lost or out of order, TCP is responsible for correction.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（IP：可能丢包或乱序，TCP负责纠正。）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66325" y="6851522"/>
            <a:ext cx="12909530" cy="1543050"/>
            <a:chOff x="0" y="0"/>
            <a:chExt cx="3400041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00041" cy="406400"/>
            </a:xfrm>
            <a:custGeom>
              <a:avLst/>
              <a:gdLst/>
              <a:ahLst/>
              <a:cxnLst/>
              <a:rect r="r" b="b" t="t" l="l"/>
              <a:pathLst>
                <a:path h="406400" w="3400041">
                  <a:moveTo>
                    <a:pt x="3400041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3400041" y="406400"/>
                  </a:lnTo>
                  <a:lnTo>
                    <a:pt x="3298441" y="203200"/>
                  </a:lnTo>
                  <a:lnTo>
                    <a:pt x="3400041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88900" y="-57150"/>
              <a:ext cx="3222241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 routing（IP路由）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Finally reach the destination according to the routing process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（根据路由过程最终到达目标）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66325" y="4255159"/>
            <a:ext cx="12909530" cy="2520163"/>
            <a:chOff x="0" y="0"/>
            <a:chExt cx="3400041" cy="6637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00041" cy="663747"/>
            </a:xfrm>
            <a:custGeom>
              <a:avLst/>
              <a:gdLst/>
              <a:ahLst/>
              <a:cxnLst/>
              <a:rect r="r" b="b" t="t" l="l"/>
              <a:pathLst>
                <a:path h="663747" w="3400041">
                  <a:moveTo>
                    <a:pt x="3400041" y="0"/>
                  </a:moveTo>
                  <a:lnTo>
                    <a:pt x="0" y="0"/>
                  </a:lnTo>
                  <a:lnTo>
                    <a:pt x="101600" y="331873"/>
                  </a:lnTo>
                  <a:lnTo>
                    <a:pt x="0" y="663747"/>
                  </a:lnTo>
                  <a:lnTo>
                    <a:pt x="3400041" y="663747"/>
                  </a:lnTo>
                  <a:lnTo>
                    <a:pt x="3298441" y="331873"/>
                  </a:lnTo>
                  <a:lnTo>
                    <a:pt x="3400041" y="0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88900" y="-66675"/>
              <a:ext cx="3222241" cy="73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 connection management（TCP连接管理）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Three-way handshake (establishing a connection) and four-way handshake (closing the connection)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（三次握手（建立连接）和四次挥手（关闭连接））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41" y="348234"/>
            <a:ext cx="17580614" cy="1360932"/>
            <a:chOff x="0" y="0"/>
            <a:chExt cx="4630285" cy="358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0285" cy="358435"/>
            </a:xfrm>
            <a:custGeom>
              <a:avLst/>
              <a:gdLst/>
              <a:ahLst/>
              <a:cxnLst/>
              <a:rect r="r" b="b" t="t" l="l"/>
              <a:pathLst>
                <a:path h="358435" w="4630285">
                  <a:moveTo>
                    <a:pt x="0" y="0"/>
                  </a:moveTo>
                  <a:lnTo>
                    <a:pt x="4427085" y="0"/>
                  </a:lnTo>
                  <a:lnTo>
                    <a:pt x="4630285" y="179217"/>
                  </a:lnTo>
                  <a:lnTo>
                    <a:pt x="4427085" y="358435"/>
                  </a:lnTo>
                  <a:lnTo>
                    <a:pt x="0" y="358435"/>
                  </a:lnTo>
                  <a:lnTo>
                    <a:pt x="203200" y="179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2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123825"/>
              <a:ext cx="4376285" cy="482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Summary and conclusion（总结）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74883" y="3272046"/>
            <a:ext cx="6621331" cy="3742908"/>
            <a:chOff x="0" y="0"/>
            <a:chExt cx="1260162" cy="712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5351" cy="716583"/>
            </a:xfrm>
            <a:custGeom>
              <a:avLst/>
              <a:gdLst/>
              <a:ahLst/>
              <a:cxnLst/>
              <a:rect r="r" b="b" t="t" l="l"/>
              <a:pathLst>
                <a:path h="716583" w="1275351">
                  <a:moveTo>
                    <a:pt x="715492" y="0"/>
                  </a:moveTo>
                  <a:cubicBezTo>
                    <a:pt x="729315" y="0"/>
                    <a:pt x="743220" y="0"/>
                    <a:pt x="757015" y="0"/>
                  </a:cubicBezTo>
                  <a:cubicBezTo>
                    <a:pt x="866997" y="11898"/>
                    <a:pt x="935731" y="51502"/>
                    <a:pt x="967038" y="116307"/>
                  </a:cubicBezTo>
                  <a:cubicBezTo>
                    <a:pt x="1150398" y="107664"/>
                    <a:pt x="1275351" y="230201"/>
                    <a:pt x="1202466" y="350465"/>
                  </a:cubicBezTo>
                  <a:cubicBezTo>
                    <a:pt x="1229483" y="375736"/>
                    <a:pt x="1252022" y="404005"/>
                    <a:pt x="1260162" y="441945"/>
                  </a:cubicBezTo>
                  <a:cubicBezTo>
                    <a:pt x="1260162" y="452814"/>
                    <a:pt x="1260162" y="463657"/>
                    <a:pt x="1260162" y="474523"/>
                  </a:cubicBezTo>
                  <a:cubicBezTo>
                    <a:pt x="1235903" y="571087"/>
                    <a:pt x="1131521" y="636337"/>
                    <a:pt x="960153" y="618771"/>
                  </a:cubicBezTo>
                  <a:cubicBezTo>
                    <a:pt x="916061" y="668352"/>
                    <a:pt x="837604" y="716583"/>
                    <a:pt x="715518" y="711821"/>
                  </a:cubicBezTo>
                  <a:cubicBezTo>
                    <a:pt x="652413" y="708566"/>
                    <a:pt x="608512" y="689712"/>
                    <a:pt x="570075" y="666807"/>
                  </a:cubicBezTo>
                  <a:cubicBezTo>
                    <a:pt x="529591" y="685847"/>
                    <a:pt x="485745" y="700789"/>
                    <a:pt x="422394" y="700954"/>
                  </a:cubicBezTo>
                  <a:cubicBezTo>
                    <a:pt x="275832" y="701235"/>
                    <a:pt x="177787" y="627883"/>
                    <a:pt x="175410" y="527267"/>
                  </a:cubicBezTo>
                  <a:cubicBezTo>
                    <a:pt x="81190" y="503729"/>
                    <a:pt x="17374" y="459793"/>
                    <a:pt x="0" y="384612"/>
                  </a:cubicBezTo>
                  <a:cubicBezTo>
                    <a:pt x="0" y="373745"/>
                    <a:pt x="0" y="362855"/>
                    <a:pt x="0" y="352034"/>
                  </a:cubicBezTo>
                  <a:cubicBezTo>
                    <a:pt x="19177" y="277535"/>
                    <a:pt x="79523" y="230739"/>
                    <a:pt x="180000" y="210901"/>
                  </a:cubicBezTo>
                  <a:cubicBezTo>
                    <a:pt x="173962" y="85227"/>
                    <a:pt x="374943" y="6698"/>
                    <a:pt x="540054" y="62065"/>
                  </a:cubicBezTo>
                  <a:cubicBezTo>
                    <a:pt x="579365" y="34686"/>
                    <a:pt x="634984" y="4825"/>
                    <a:pt x="715492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9070" y="42524"/>
              <a:ext cx="1142021" cy="56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IPv6 is more common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（IPv6更普遍）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63794" y="6326368"/>
            <a:ext cx="6581918" cy="3720629"/>
            <a:chOff x="0" y="0"/>
            <a:chExt cx="1260162" cy="712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5351" cy="716583"/>
            </a:xfrm>
            <a:custGeom>
              <a:avLst/>
              <a:gdLst/>
              <a:ahLst/>
              <a:cxnLst/>
              <a:rect r="r" b="b" t="t" l="l"/>
              <a:pathLst>
                <a:path h="716583" w="1275351">
                  <a:moveTo>
                    <a:pt x="715492" y="0"/>
                  </a:moveTo>
                  <a:cubicBezTo>
                    <a:pt x="729315" y="0"/>
                    <a:pt x="743220" y="0"/>
                    <a:pt x="757015" y="0"/>
                  </a:cubicBezTo>
                  <a:cubicBezTo>
                    <a:pt x="866997" y="11898"/>
                    <a:pt x="935731" y="51502"/>
                    <a:pt x="967038" y="116307"/>
                  </a:cubicBezTo>
                  <a:cubicBezTo>
                    <a:pt x="1150398" y="107664"/>
                    <a:pt x="1275351" y="230201"/>
                    <a:pt x="1202466" y="350465"/>
                  </a:cubicBezTo>
                  <a:cubicBezTo>
                    <a:pt x="1229483" y="375736"/>
                    <a:pt x="1252022" y="404005"/>
                    <a:pt x="1260162" y="441945"/>
                  </a:cubicBezTo>
                  <a:cubicBezTo>
                    <a:pt x="1260162" y="452814"/>
                    <a:pt x="1260162" y="463657"/>
                    <a:pt x="1260162" y="474523"/>
                  </a:cubicBezTo>
                  <a:cubicBezTo>
                    <a:pt x="1235903" y="571087"/>
                    <a:pt x="1131521" y="636337"/>
                    <a:pt x="960153" y="618771"/>
                  </a:cubicBezTo>
                  <a:cubicBezTo>
                    <a:pt x="916061" y="668352"/>
                    <a:pt x="837604" y="716583"/>
                    <a:pt x="715518" y="711821"/>
                  </a:cubicBezTo>
                  <a:cubicBezTo>
                    <a:pt x="652413" y="708566"/>
                    <a:pt x="608512" y="689712"/>
                    <a:pt x="570075" y="666807"/>
                  </a:cubicBezTo>
                  <a:cubicBezTo>
                    <a:pt x="529591" y="685847"/>
                    <a:pt x="485745" y="700789"/>
                    <a:pt x="422394" y="700954"/>
                  </a:cubicBezTo>
                  <a:cubicBezTo>
                    <a:pt x="275832" y="701235"/>
                    <a:pt x="177787" y="627883"/>
                    <a:pt x="175410" y="527267"/>
                  </a:cubicBezTo>
                  <a:cubicBezTo>
                    <a:pt x="81190" y="503729"/>
                    <a:pt x="17374" y="459793"/>
                    <a:pt x="0" y="384612"/>
                  </a:cubicBezTo>
                  <a:cubicBezTo>
                    <a:pt x="0" y="373745"/>
                    <a:pt x="0" y="362855"/>
                    <a:pt x="0" y="352034"/>
                  </a:cubicBezTo>
                  <a:cubicBezTo>
                    <a:pt x="19177" y="277535"/>
                    <a:pt x="79523" y="230739"/>
                    <a:pt x="180000" y="210901"/>
                  </a:cubicBezTo>
                  <a:cubicBezTo>
                    <a:pt x="173962" y="85227"/>
                    <a:pt x="374943" y="6698"/>
                    <a:pt x="540054" y="62065"/>
                  </a:cubicBezTo>
                  <a:cubicBezTo>
                    <a:pt x="579365" y="34686"/>
                    <a:pt x="634984" y="4825"/>
                    <a:pt x="715492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070" y="42524"/>
              <a:ext cx="1142021" cy="56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AI Optimization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（AI优化）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66167" y="2073991"/>
            <a:ext cx="6121833" cy="3460552"/>
            <a:chOff x="0" y="0"/>
            <a:chExt cx="1260162" cy="712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5351" cy="716583"/>
            </a:xfrm>
            <a:custGeom>
              <a:avLst/>
              <a:gdLst/>
              <a:ahLst/>
              <a:cxnLst/>
              <a:rect r="r" b="b" t="t" l="l"/>
              <a:pathLst>
                <a:path h="716583" w="1275351">
                  <a:moveTo>
                    <a:pt x="715492" y="0"/>
                  </a:moveTo>
                  <a:cubicBezTo>
                    <a:pt x="729315" y="0"/>
                    <a:pt x="743220" y="0"/>
                    <a:pt x="757015" y="0"/>
                  </a:cubicBezTo>
                  <a:cubicBezTo>
                    <a:pt x="866997" y="11898"/>
                    <a:pt x="935731" y="51502"/>
                    <a:pt x="967038" y="116307"/>
                  </a:cubicBezTo>
                  <a:cubicBezTo>
                    <a:pt x="1150398" y="107664"/>
                    <a:pt x="1275351" y="230201"/>
                    <a:pt x="1202466" y="350465"/>
                  </a:cubicBezTo>
                  <a:cubicBezTo>
                    <a:pt x="1229483" y="375736"/>
                    <a:pt x="1252022" y="404005"/>
                    <a:pt x="1260162" y="441945"/>
                  </a:cubicBezTo>
                  <a:cubicBezTo>
                    <a:pt x="1260162" y="452814"/>
                    <a:pt x="1260162" y="463657"/>
                    <a:pt x="1260162" y="474523"/>
                  </a:cubicBezTo>
                  <a:cubicBezTo>
                    <a:pt x="1235903" y="571087"/>
                    <a:pt x="1131521" y="636337"/>
                    <a:pt x="960153" y="618771"/>
                  </a:cubicBezTo>
                  <a:cubicBezTo>
                    <a:pt x="916061" y="668352"/>
                    <a:pt x="837604" y="716583"/>
                    <a:pt x="715518" y="711821"/>
                  </a:cubicBezTo>
                  <a:cubicBezTo>
                    <a:pt x="652413" y="708566"/>
                    <a:pt x="608512" y="689712"/>
                    <a:pt x="570075" y="666807"/>
                  </a:cubicBezTo>
                  <a:cubicBezTo>
                    <a:pt x="529591" y="685847"/>
                    <a:pt x="485745" y="700789"/>
                    <a:pt x="422394" y="700954"/>
                  </a:cubicBezTo>
                  <a:cubicBezTo>
                    <a:pt x="275832" y="701235"/>
                    <a:pt x="177787" y="627883"/>
                    <a:pt x="175410" y="527267"/>
                  </a:cubicBezTo>
                  <a:cubicBezTo>
                    <a:pt x="81190" y="503729"/>
                    <a:pt x="17374" y="459793"/>
                    <a:pt x="0" y="384612"/>
                  </a:cubicBezTo>
                  <a:cubicBezTo>
                    <a:pt x="0" y="373745"/>
                    <a:pt x="0" y="362855"/>
                    <a:pt x="0" y="352034"/>
                  </a:cubicBezTo>
                  <a:cubicBezTo>
                    <a:pt x="19177" y="277535"/>
                    <a:pt x="79523" y="230739"/>
                    <a:pt x="180000" y="210901"/>
                  </a:cubicBezTo>
                  <a:cubicBezTo>
                    <a:pt x="173962" y="85227"/>
                    <a:pt x="374943" y="6698"/>
                    <a:pt x="540054" y="62065"/>
                  </a:cubicBezTo>
                  <a:cubicBezTo>
                    <a:pt x="579365" y="34686"/>
                    <a:pt x="634984" y="4825"/>
                    <a:pt x="715492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070" y="42524"/>
              <a:ext cx="1142021" cy="56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Faster connections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（更快连接）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5241" y="3484702"/>
            <a:ext cx="5304415" cy="3993942"/>
            <a:chOff x="0" y="0"/>
            <a:chExt cx="1397048" cy="1051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7048" cy="1051903"/>
            </a:xfrm>
            <a:custGeom>
              <a:avLst/>
              <a:gdLst/>
              <a:ahLst/>
              <a:cxnLst/>
              <a:rect r="r" b="b" t="t" l="l"/>
              <a:pathLst>
                <a:path h="1051903" w="1397048">
                  <a:moveTo>
                    <a:pt x="1397048" y="525951"/>
                  </a:moveTo>
                  <a:lnTo>
                    <a:pt x="990648" y="0"/>
                  </a:lnTo>
                  <a:lnTo>
                    <a:pt x="990648" y="203200"/>
                  </a:lnTo>
                  <a:lnTo>
                    <a:pt x="0" y="203200"/>
                  </a:lnTo>
                  <a:lnTo>
                    <a:pt x="0" y="848703"/>
                  </a:lnTo>
                  <a:lnTo>
                    <a:pt x="990648" y="848703"/>
                  </a:lnTo>
                  <a:lnTo>
                    <a:pt x="990648" y="1051903"/>
                  </a:lnTo>
                  <a:lnTo>
                    <a:pt x="1397048" y="525951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7950"/>
              <a:ext cx="1295448" cy="740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</a:pP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TCP/IP Current trends</a:t>
              </a: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241" y="348234"/>
            <a:ext cx="17580614" cy="1360932"/>
            <a:chOff x="0" y="0"/>
            <a:chExt cx="4630285" cy="358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0285" cy="358435"/>
            </a:xfrm>
            <a:custGeom>
              <a:avLst/>
              <a:gdLst/>
              <a:ahLst/>
              <a:cxnLst/>
              <a:rect r="r" b="b" t="t" l="l"/>
              <a:pathLst>
                <a:path h="358435" w="4630285">
                  <a:moveTo>
                    <a:pt x="0" y="0"/>
                  </a:moveTo>
                  <a:lnTo>
                    <a:pt x="4427085" y="0"/>
                  </a:lnTo>
                  <a:lnTo>
                    <a:pt x="4630285" y="179217"/>
                  </a:lnTo>
                  <a:lnTo>
                    <a:pt x="4427085" y="358435"/>
                  </a:lnTo>
                  <a:lnTo>
                    <a:pt x="0" y="358435"/>
                  </a:lnTo>
                  <a:lnTo>
                    <a:pt x="203200" y="1792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2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123825"/>
              <a:ext cx="4376285" cy="482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Summary and conclusion（总结）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74883" y="3272046"/>
            <a:ext cx="6621331" cy="3742908"/>
            <a:chOff x="0" y="0"/>
            <a:chExt cx="1260162" cy="7123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5351" cy="716583"/>
            </a:xfrm>
            <a:custGeom>
              <a:avLst/>
              <a:gdLst/>
              <a:ahLst/>
              <a:cxnLst/>
              <a:rect r="r" b="b" t="t" l="l"/>
              <a:pathLst>
                <a:path h="716583" w="1275351">
                  <a:moveTo>
                    <a:pt x="715492" y="0"/>
                  </a:moveTo>
                  <a:cubicBezTo>
                    <a:pt x="729315" y="0"/>
                    <a:pt x="743220" y="0"/>
                    <a:pt x="757015" y="0"/>
                  </a:cubicBezTo>
                  <a:cubicBezTo>
                    <a:pt x="866997" y="11898"/>
                    <a:pt x="935731" y="51502"/>
                    <a:pt x="967038" y="116307"/>
                  </a:cubicBezTo>
                  <a:cubicBezTo>
                    <a:pt x="1150398" y="107664"/>
                    <a:pt x="1275351" y="230201"/>
                    <a:pt x="1202466" y="350465"/>
                  </a:cubicBezTo>
                  <a:cubicBezTo>
                    <a:pt x="1229483" y="375736"/>
                    <a:pt x="1252022" y="404005"/>
                    <a:pt x="1260162" y="441945"/>
                  </a:cubicBezTo>
                  <a:cubicBezTo>
                    <a:pt x="1260162" y="452814"/>
                    <a:pt x="1260162" y="463657"/>
                    <a:pt x="1260162" y="474523"/>
                  </a:cubicBezTo>
                  <a:cubicBezTo>
                    <a:pt x="1235903" y="571087"/>
                    <a:pt x="1131521" y="636337"/>
                    <a:pt x="960153" y="618771"/>
                  </a:cubicBezTo>
                  <a:cubicBezTo>
                    <a:pt x="916061" y="668352"/>
                    <a:pt x="837604" y="716583"/>
                    <a:pt x="715518" y="711821"/>
                  </a:cubicBezTo>
                  <a:cubicBezTo>
                    <a:pt x="652413" y="708566"/>
                    <a:pt x="608512" y="689712"/>
                    <a:pt x="570075" y="666807"/>
                  </a:cubicBezTo>
                  <a:cubicBezTo>
                    <a:pt x="529591" y="685847"/>
                    <a:pt x="485745" y="700789"/>
                    <a:pt x="422394" y="700954"/>
                  </a:cubicBezTo>
                  <a:cubicBezTo>
                    <a:pt x="275832" y="701235"/>
                    <a:pt x="177787" y="627883"/>
                    <a:pt x="175410" y="527267"/>
                  </a:cubicBezTo>
                  <a:cubicBezTo>
                    <a:pt x="81190" y="503729"/>
                    <a:pt x="17374" y="459793"/>
                    <a:pt x="0" y="384612"/>
                  </a:cubicBezTo>
                  <a:cubicBezTo>
                    <a:pt x="0" y="373745"/>
                    <a:pt x="0" y="362855"/>
                    <a:pt x="0" y="352034"/>
                  </a:cubicBezTo>
                  <a:cubicBezTo>
                    <a:pt x="19177" y="277535"/>
                    <a:pt x="79523" y="230739"/>
                    <a:pt x="180000" y="210901"/>
                  </a:cubicBezTo>
                  <a:cubicBezTo>
                    <a:pt x="173962" y="85227"/>
                    <a:pt x="374943" y="6698"/>
                    <a:pt x="540054" y="62065"/>
                  </a:cubicBezTo>
                  <a:cubicBezTo>
                    <a:pt x="579365" y="34686"/>
                    <a:pt x="634984" y="4825"/>
                    <a:pt x="715492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59070" y="42524"/>
              <a:ext cx="1142021" cy="56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Many cyber attacks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（网络攻击多）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63794" y="6326368"/>
            <a:ext cx="6581918" cy="3720629"/>
            <a:chOff x="0" y="0"/>
            <a:chExt cx="1260162" cy="7123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5351" cy="716583"/>
            </a:xfrm>
            <a:custGeom>
              <a:avLst/>
              <a:gdLst/>
              <a:ahLst/>
              <a:cxnLst/>
              <a:rect r="r" b="b" t="t" l="l"/>
              <a:pathLst>
                <a:path h="716583" w="1275351">
                  <a:moveTo>
                    <a:pt x="715492" y="0"/>
                  </a:moveTo>
                  <a:cubicBezTo>
                    <a:pt x="729315" y="0"/>
                    <a:pt x="743220" y="0"/>
                    <a:pt x="757015" y="0"/>
                  </a:cubicBezTo>
                  <a:cubicBezTo>
                    <a:pt x="866997" y="11898"/>
                    <a:pt x="935731" y="51502"/>
                    <a:pt x="967038" y="116307"/>
                  </a:cubicBezTo>
                  <a:cubicBezTo>
                    <a:pt x="1150398" y="107664"/>
                    <a:pt x="1275351" y="230201"/>
                    <a:pt x="1202466" y="350465"/>
                  </a:cubicBezTo>
                  <a:cubicBezTo>
                    <a:pt x="1229483" y="375736"/>
                    <a:pt x="1252022" y="404005"/>
                    <a:pt x="1260162" y="441945"/>
                  </a:cubicBezTo>
                  <a:cubicBezTo>
                    <a:pt x="1260162" y="452814"/>
                    <a:pt x="1260162" y="463657"/>
                    <a:pt x="1260162" y="474523"/>
                  </a:cubicBezTo>
                  <a:cubicBezTo>
                    <a:pt x="1235903" y="571087"/>
                    <a:pt x="1131521" y="636337"/>
                    <a:pt x="960153" y="618771"/>
                  </a:cubicBezTo>
                  <a:cubicBezTo>
                    <a:pt x="916061" y="668352"/>
                    <a:pt x="837604" y="716583"/>
                    <a:pt x="715518" y="711821"/>
                  </a:cubicBezTo>
                  <a:cubicBezTo>
                    <a:pt x="652413" y="708566"/>
                    <a:pt x="608512" y="689712"/>
                    <a:pt x="570075" y="666807"/>
                  </a:cubicBezTo>
                  <a:cubicBezTo>
                    <a:pt x="529591" y="685847"/>
                    <a:pt x="485745" y="700789"/>
                    <a:pt x="422394" y="700954"/>
                  </a:cubicBezTo>
                  <a:cubicBezTo>
                    <a:pt x="275832" y="701235"/>
                    <a:pt x="177787" y="627883"/>
                    <a:pt x="175410" y="527267"/>
                  </a:cubicBezTo>
                  <a:cubicBezTo>
                    <a:pt x="81190" y="503729"/>
                    <a:pt x="17374" y="459793"/>
                    <a:pt x="0" y="384612"/>
                  </a:cubicBezTo>
                  <a:cubicBezTo>
                    <a:pt x="0" y="373745"/>
                    <a:pt x="0" y="362855"/>
                    <a:pt x="0" y="352034"/>
                  </a:cubicBezTo>
                  <a:cubicBezTo>
                    <a:pt x="19177" y="277535"/>
                    <a:pt x="79523" y="230739"/>
                    <a:pt x="180000" y="210901"/>
                  </a:cubicBezTo>
                  <a:cubicBezTo>
                    <a:pt x="173962" y="85227"/>
                    <a:pt x="374943" y="6698"/>
                    <a:pt x="540054" y="62065"/>
                  </a:cubicBezTo>
                  <a:cubicBezTo>
                    <a:pt x="579365" y="34686"/>
                    <a:pt x="634984" y="4825"/>
                    <a:pt x="715492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59070" y="42524"/>
              <a:ext cx="1142021" cy="56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Speed ​​cannot keep up（速度跟不上）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66167" y="2073991"/>
            <a:ext cx="6121833" cy="3460552"/>
            <a:chOff x="0" y="0"/>
            <a:chExt cx="1260162" cy="7123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5351" cy="716583"/>
            </a:xfrm>
            <a:custGeom>
              <a:avLst/>
              <a:gdLst/>
              <a:ahLst/>
              <a:cxnLst/>
              <a:rect r="r" b="b" t="t" l="l"/>
              <a:pathLst>
                <a:path h="716583" w="1275351">
                  <a:moveTo>
                    <a:pt x="715492" y="0"/>
                  </a:moveTo>
                  <a:cubicBezTo>
                    <a:pt x="729315" y="0"/>
                    <a:pt x="743220" y="0"/>
                    <a:pt x="757015" y="0"/>
                  </a:cubicBezTo>
                  <a:cubicBezTo>
                    <a:pt x="866997" y="11898"/>
                    <a:pt x="935731" y="51502"/>
                    <a:pt x="967038" y="116307"/>
                  </a:cubicBezTo>
                  <a:cubicBezTo>
                    <a:pt x="1150398" y="107664"/>
                    <a:pt x="1275351" y="230201"/>
                    <a:pt x="1202466" y="350465"/>
                  </a:cubicBezTo>
                  <a:cubicBezTo>
                    <a:pt x="1229483" y="375736"/>
                    <a:pt x="1252022" y="404005"/>
                    <a:pt x="1260162" y="441945"/>
                  </a:cubicBezTo>
                  <a:cubicBezTo>
                    <a:pt x="1260162" y="452814"/>
                    <a:pt x="1260162" y="463657"/>
                    <a:pt x="1260162" y="474523"/>
                  </a:cubicBezTo>
                  <a:cubicBezTo>
                    <a:pt x="1235903" y="571087"/>
                    <a:pt x="1131521" y="636337"/>
                    <a:pt x="960153" y="618771"/>
                  </a:cubicBezTo>
                  <a:cubicBezTo>
                    <a:pt x="916061" y="668352"/>
                    <a:pt x="837604" y="716583"/>
                    <a:pt x="715518" y="711821"/>
                  </a:cubicBezTo>
                  <a:cubicBezTo>
                    <a:pt x="652413" y="708566"/>
                    <a:pt x="608512" y="689712"/>
                    <a:pt x="570075" y="666807"/>
                  </a:cubicBezTo>
                  <a:cubicBezTo>
                    <a:pt x="529591" y="685847"/>
                    <a:pt x="485745" y="700789"/>
                    <a:pt x="422394" y="700954"/>
                  </a:cubicBezTo>
                  <a:cubicBezTo>
                    <a:pt x="275832" y="701235"/>
                    <a:pt x="177787" y="627883"/>
                    <a:pt x="175410" y="527267"/>
                  </a:cubicBezTo>
                  <a:cubicBezTo>
                    <a:pt x="81190" y="503729"/>
                    <a:pt x="17374" y="459793"/>
                    <a:pt x="0" y="384612"/>
                  </a:cubicBezTo>
                  <a:cubicBezTo>
                    <a:pt x="0" y="373745"/>
                    <a:pt x="0" y="362855"/>
                    <a:pt x="0" y="352034"/>
                  </a:cubicBezTo>
                  <a:cubicBezTo>
                    <a:pt x="19177" y="277535"/>
                    <a:pt x="79523" y="230739"/>
                    <a:pt x="180000" y="210901"/>
                  </a:cubicBezTo>
                  <a:cubicBezTo>
                    <a:pt x="173962" y="85227"/>
                    <a:pt x="374943" y="6698"/>
                    <a:pt x="540054" y="62065"/>
                  </a:cubicBezTo>
                  <a:cubicBezTo>
                    <a:pt x="579365" y="34686"/>
                    <a:pt x="634984" y="4825"/>
                    <a:pt x="715492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59070" y="42524"/>
              <a:ext cx="1142021" cy="568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IoT is not adaptable</a:t>
              </a:r>
              <a:r>
                <a:rPr lang="en-US" sz="39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（物联网不适应）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5241" y="3484702"/>
            <a:ext cx="5304415" cy="3993942"/>
            <a:chOff x="0" y="0"/>
            <a:chExt cx="1397048" cy="1051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7048" cy="1051903"/>
            </a:xfrm>
            <a:custGeom>
              <a:avLst/>
              <a:gdLst/>
              <a:ahLst/>
              <a:cxnLst/>
              <a:rect r="r" b="b" t="t" l="l"/>
              <a:pathLst>
                <a:path h="1051903" w="1397048">
                  <a:moveTo>
                    <a:pt x="1397048" y="525951"/>
                  </a:moveTo>
                  <a:lnTo>
                    <a:pt x="990648" y="0"/>
                  </a:lnTo>
                  <a:lnTo>
                    <a:pt x="990648" y="203200"/>
                  </a:lnTo>
                  <a:lnTo>
                    <a:pt x="0" y="203200"/>
                  </a:lnTo>
                  <a:lnTo>
                    <a:pt x="0" y="848703"/>
                  </a:lnTo>
                  <a:lnTo>
                    <a:pt x="990648" y="848703"/>
                  </a:lnTo>
                  <a:lnTo>
                    <a:pt x="990648" y="1051903"/>
                  </a:lnTo>
                  <a:lnTo>
                    <a:pt x="1397048" y="525951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07950"/>
              <a:ext cx="1295448" cy="740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</a:pP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TCP/IP Challenge</a:t>
              </a:r>
              <a:r>
                <a:rPr lang="en-US" sz="48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5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230600" cy="1487500"/>
            <a:chOff x="0" y="0"/>
            <a:chExt cx="4274726" cy="391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91770"/>
            </a:xfrm>
            <a:custGeom>
              <a:avLst/>
              <a:gdLst/>
              <a:ahLst/>
              <a:cxnLst/>
              <a:rect r="r" b="b" t="t" l="l"/>
              <a:pathLst>
                <a:path h="391770" w="4274726">
                  <a:moveTo>
                    <a:pt x="4071526" y="0"/>
                  </a:moveTo>
                  <a:lnTo>
                    <a:pt x="203200" y="0"/>
                  </a:lnTo>
                  <a:lnTo>
                    <a:pt x="0" y="195885"/>
                  </a:lnTo>
                  <a:lnTo>
                    <a:pt x="203200" y="391770"/>
                  </a:lnTo>
                  <a:lnTo>
                    <a:pt x="4071526" y="391770"/>
                  </a:lnTo>
                  <a:lnTo>
                    <a:pt x="4274726" y="195885"/>
                  </a:lnTo>
                  <a:lnTo>
                    <a:pt x="4071526" y="0"/>
                  </a:lnTo>
                  <a:close/>
                </a:path>
              </a:pathLst>
            </a:custGeom>
            <a:solidFill>
              <a:srgbClr val="88C9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133350"/>
              <a:ext cx="3969926" cy="525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40"/>
                </a:lnSpc>
              </a:pPr>
              <a:r>
                <a:rPr lang="en-US" sz="6600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Reference（衔接）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6175" y="1767057"/>
            <a:ext cx="16913159" cy="8519943"/>
            <a:chOff x="0" y="0"/>
            <a:chExt cx="4454494" cy="2243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54494" cy="2243936"/>
            </a:xfrm>
            <a:custGeom>
              <a:avLst/>
              <a:gdLst/>
              <a:ahLst/>
              <a:cxnLst/>
              <a:rect r="r" b="b" t="t" l="l"/>
              <a:pathLst>
                <a:path h="2243936" w="4454494">
                  <a:moveTo>
                    <a:pt x="23345" y="0"/>
                  </a:moveTo>
                  <a:lnTo>
                    <a:pt x="4431149" y="0"/>
                  </a:lnTo>
                  <a:cubicBezTo>
                    <a:pt x="4444042" y="0"/>
                    <a:pt x="4454494" y="10452"/>
                    <a:pt x="4454494" y="23345"/>
                  </a:cubicBezTo>
                  <a:lnTo>
                    <a:pt x="4454494" y="2220590"/>
                  </a:lnTo>
                  <a:cubicBezTo>
                    <a:pt x="4454494" y="2233484"/>
                    <a:pt x="4444042" y="2243936"/>
                    <a:pt x="4431149" y="2243936"/>
                  </a:cubicBezTo>
                  <a:lnTo>
                    <a:pt x="23345" y="2243936"/>
                  </a:lnTo>
                  <a:cubicBezTo>
                    <a:pt x="17154" y="2243936"/>
                    <a:pt x="11216" y="2241476"/>
                    <a:pt x="6838" y="2237098"/>
                  </a:cubicBezTo>
                  <a:cubicBezTo>
                    <a:pt x="2460" y="2232720"/>
                    <a:pt x="0" y="2226782"/>
                    <a:pt x="0" y="2220590"/>
                  </a:cubicBezTo>
                  <a:lnTo>
                    <a:pt x="0" y="23345"/>
                  </a:lnTo>
                  <a:cubicBezTo>
                    <a:pt x="0" y="17154"/>
                    <a:pt x="2460" y="11216"/>
                    <a:pt x="6838" y="6838"/>
                  </a:cubicBezTo>
                  <a:cubicBezTo>
                    <a:pt x="11216" y="2460"/>
                    <a:pt x="17154" y="0"/>
                    <a:pt x="23345" y="0"/>
                  </a:cubicBezTo>
                  <a:close/>
                </a:path>
              </a:pathLst>
            </a:custGeom>
            <a:solidFill>
              <a:srgbClr val="88C9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454494" cy="2291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What is tcp/ip model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2" tooltip="https://www.cloudflare.com/zh-cn/learning/ddos/glossary/tcp-ip/"/>
                </a:rPr>
                <a:t>https://www.cloudflare.com/zh-cn/learning/ddos/glossary/tcp-ip/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3" tooltip="https://www.techtarget.com/searchnetworking/definition/TCP-IP"/>
                </a:rPr>
                <a:t>https://www.techtarget.com/searchnetworking/definition/TCP-IP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4" tooltip="https://www.ibm.com/docs/en/aix/7.1?topic=management-transmission-control-protocolinternet-protocol"/>
                </a:rPr>
                <a:t>https://www.ibm.com/docs/en/aix/7.1?topic=management-transmission-control-protocolinternet-protocol</a:t>
              </a:r>
            </a:p>
            <a:p>
              <a:pPr algn="just">
                <a:lnSpc>
                  <a:spcPts val="2939"/>
                </a:lnSpc>
              </a:pP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tcp/ip model 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5" tooltip="https://www.fortinet.com/resources/cyberglossary/tcp-ip-model-vs-osi-model"/>
                </a:rPr>
                <a:t>https://www.fortinet.com/resources/cyberglossary/tcp-ip-model-vs-osi-model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6" tooltip="https://www.avg.com/en/signal/what-is-tcp-ip"/>
                </a:rPr>
                <a:t>https://www.avg.com/en/signal/what-is-tcp-ip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7" tooltip="https://www.youtube.com/watch?v=2QGgEk20RXM&amp;ab_channel=TechTerms"/>
                </a:rPr>
                <a:t>https://www.youtube.com/watch?v=2QGgEk20RXM&amp;ab_channel=TechTerms</a:t>
              </a: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(video)</a:t>
              </a:r>
            </a:p>
            <a:p>
              <a:pPr algn="just">
                <a:lnSpc>
                  <a:spcPts val="2939"/>
                </a:lnSpc>
              </a:pP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Real-life use case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8" tooltip="https://www.quora.com/What-are-real-life-examples-of-TCP-IP"/>
                </a:rPr>
                <a:t>https://www.quora.com/What-are-real-life-examples-of-TCP-IP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9" tooltip="https://www.youtube.com/watch?v=3kfO61Mensg&amp;ab_channel=NetworkChuck"/>
                </a:rPr>
                <a:t>https://www.youtube.com/watch?v=3kfO61Mensg&amp;ab_channel=NetworkChuck</a:t>
              </a: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（video）</a:t>
              </a:r>
            </a:p>
            <a:p>
              <a:pPr algn="just">
                <a:lnSpc>
                  <a:spcPts val="2939"/>
                </a:lnSpc>
              </a:pP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Current Trends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1）https://www.google.com/intl/en/ipv6/statistics.html#tab=ipv6-adoption​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3）</a:t>
              </a: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 https://blogs.cisco.com/developer/using-the-power-of-artificial-intelligence-to-augment-network-automation</a:t>
              </a:r>
            </a:p>
            <a:p>
              <a:pPr algn="just">
                <a:lnSpc>
                  <a:spcPts val="2939"/>
                </a:lnSpc>
              </a:pP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Challenge</a:t>
              </a: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​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1） </a:t>
              </a: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10" tooltip="https://www.sohu.com/a/630009938_121124365"/>
                </a:rPr>
                <a:t>https://www.sohu.com/a/630009938_121124365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2） </a:t>
              </a: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  <a:hlinkClick r:id="rId11" tooltip="https://yanjingang.com/blog/?p=3469"/>
                </a:rPr>
                <a:t>https://yanjingang.com/blog/?p=3469</a:t>
              </a:r>
            </a:p>
            <a:p>
              <a:pPr algn="just">
                <a:lnSpc>
                  <a:spcPts val="2939"/>
                </a:lnSpc>
              </a:pPr>
              <a:r>
                <a:rPr lang="en-US" sz="2099" u="sng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3） https://www.cbre.com/insights/reports/european-data-centres-overview%5B​​</a:t>
              </a:r>
              <a:r>
                <a:rPr lang="en-US" sz="2099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rPr>
                <a:t>​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DAGksHXAN8k</dc:identifier>
  <dcterms:modified xsi:type="dcterms:W3CDTF">2011-08-01T06:04:30Z</dcterms:modified>
  <cp:revision>1</cp:revision>
  <dc:title>TCP/IP</dc:title>
</cp:coreProperties>
</file>