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Neo Tech Bold" charset="1" panose="020B0804030504040204"/>
      <p:regular r:id="rId10"/>
    </p:embeddedFon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954155">
            <a:off x="11475847" y="-16701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7"/>
                </a:lnTo>
                <a:lnTo>
                  <a:pt x="0" y="7389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351545">
            <a:off x="-3478707" y="45370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33348" y="8447529"/>
            <a:ext cx="925952" cy="919347"/>
            <a:chOff x="0" y="0"/>
            <a:chExt cx="289003" cy="286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003" cy="286941"/>
            </a:xfrm>
            <a:custGeom>
              <a:avLst/>
              <a:gdLst/>
              <a:ahLst/>
              <a:cxnLst/>
              <a:rect r="r" b="b" t="t" l="l"/>
              <a:pathLst>
                <a:path h="286941" w="289003">
                  <a:moveTo>
                    <a:pt x="143471" y="0"/>
                  </a:moveTo>
                  <a:lnTo>
                    <a:pt x="145532" y="0"/>
                  </a:lnTo>
                  <a:cubicBezTo>
                    <a:pt x="183583" y="0"/>
                    <a:pt x="220075" y="15116"/>
                    <a:pt x="246981" y="42022"/>
                  </a:cubicBezTo>
                  <a:cubicBezTo>
                    <a:pt x="273887" y="68928"/>
                    <a:pt x="289003" y="105420"/>
                    <a:pt x="289003" y="143471"/>
                  </a:cubicBezTo>
                  <a:lnTo>
                    <a:pt x="289003" y="143471"/>
                  </a:lnTo>
                  <a:cubicBezTo>
                    <a:pt x="289003" y="181521"/>
                    <a:pt x="273887" y="218014"/>
                    <a:pt x="246981" y="244920"/>
                  </a:cubicBezTo>
                  <a:cubicBezTo>
                    <a:pt x="220075" y="271826"/>
                    <a:pt x="183583" y="286941"/>
                    <a:pt x="145532" y="286941"/>
                  </a:cubicBezTo>
                  <a:lnTo>
                    <a:pt x="143471" y="286941"/>
                  </a:lnTo>
                  <a:cubicBezTo>
                    <a:pt x="105420" y="286941"/>
                    <a:pt x="68928" y="271826"/>
                    <a:pt x="42022" y="244920"/>
                  </a:cubicBezTo>
                  <a:cubicBezTo>
                    <a:pt x="15116" y="218014"/>
                    <a:pt x="0" y="181521"/>
                    <a:pt x="0" y="143471"/>
                  </a:cubicBezTo>
                  <a:lnTo>
                    <a:pt x="0" y="143471"/>
                  </a:lnTo>
                  <a:cubicBezTo>
                    <a:pt x="0" y="105420"/>
                    <a:pt x="15116" y="68928"/>
                    <a:pt x="42022" y="42022"/>
                  </a:cubicBezTo>
                  <a:cubicBezTo>
                    <a:pt x="68928" y="15116"/>
                    <a:pt x="105420" y="0"/>
                    <a:pt x="143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9003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4385" y="894704"/>
            <a:ext cx="430901" cy="430901"/>
          </a:xfrm>
          <a:custGeom>
            <a:avLst/>
            <a:gdLst/>
            <a:ahLst/>
            <a:cxnLst/>
            <a:rect r="r" b="b" t="t" l="l"/>
            <a:pathLst>
              <a:path h="430901" w="430901">
                <a:moveTo>
                  <a:pt x="0" y="0"/>
                </a:moveTo>
                <a:lnTo>
                  <a:pt x="430902" y="0"/>
                </a:lnTo>
                <a:lnTo>
                  <a:pt x="430902" y="430901"/>
                </a:lnTo>
                <a:lnTo>
                  <a:pt x="0" y="4309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59836" y="4352925"/>
            <a:ext cx="1392979" cy="13929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26FA">
                    <a:alpha val="100000"/>
                  </a:srgbClr>
                </a:gs>
                <a:gs pos="100000">
                  <a:srgbClr val="22BFE1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32634" y="4001452"/>
            <a:ext cx="12222732" cy="20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9"/>
              </a:lnSpc>
            </a:pPr>
            <a:r>
              <a:rPr lang="en-US" b="true" sz="11999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HCI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4398" y="900922"/>
            <a:ext cx="338050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THYNK UNLIMITED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965066"/>
            <a:ext cx="1662550" cy="40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08122" y="967280"/>
            <a:ext cx="190708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26729" y="943100"/>
            <a:ext cx="1916881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34325" y="965066"/>
            <a:ext cx="2224975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753834" y="2055071"/>
            <a:ext cx="1392979" cy="139297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622067">
            <a:off x="-1799682" y="5182569"/>
            <a:ext cx="13398293" cy="9695492"/>
          </a:xfrm>
          <a:custGeom>
            <a:avLst/>
            <a:gdLst/>
            <a:ahLst/>
            <a:cxnLst/>
            <a:rect r="r" b="b" t="t" l="l"/>
            <a:pathLst>
              <a:path h="9695492" w="13398293">
                <a:moveTo>
                  <a:pt x="13398293" y="0"/>
                </a:moveTo>
                <a:lnTo>
                  <a:pt x="0" y="0"/>
                </a:lnTo>
                <a:lnTo>
                  <a:pt x="0" y="9695493"/>
                </a:lnTo>
                <a:lnTo>
                  <a:pt x="13398293" y="9695493"/>
                </a:lnTo>
                <a:lnTo>
                  <a:pt x="133982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66675"/>
            <a:ext cx="182880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HCI对Consumer Electronics的用处和影响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720470">
            <a:off x="-3516807" y="45370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3348" y="8447529"/>
            <a:ext cx="925952" cy="919347"/>
            <a:chOff x="0" y="0"/>
            <a:chExt cx="289003" cy="2869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9003" cy="286941"/>
            </a:xfrm>
            <a:custGeom>
              <a:avLst/>
              <a:gdLst/>
              <a:ahLst/>
              <a:cxnLst/>
              <a:rect r="r" b="b" t="t" l="l"/>
              <a:pathLst>
                <a:path h="286941" w="289003">
                  <a:moveTo>
                    <a:pt x="143471" y="0"/>
                  </a:moveTo>
                  <a:lnTo>
                    <a:pt x="145532" y="0"/>
                  </a:lnTo>
                  <a:cubicBezTo>
                    <a:pt x="183583" y="0"/>
                    <a:pt x="220075" y="15116"/>
                    <a:pt x="246981" y="42022"/>
                  </a:cubicBezTo>
                  <a:cubicBezTo>
                    <a:pt x="273887" y="68928"/>
                    <a:pt x="289003" y="105420"/>
                    <a:pt x="289003" y="143471"/>
                  </a:cubicBezTo>
                  <a:lnTo>
                    <a:pt x="289003" y="143471"/>
                  </a:lnTo>
                  <a:cubicBezTo>
                    <a:pt x="289003" y="181521"/>
                    <a:pt x="273887" y="218014"/>
                    <a:pt x="246981" y="244920"/>
                  </a:cubicBezTo>
                  <a:cubicBezTo>
                    <a:pt x="220075" y="271826"/>
                    <a:pt x="183583" y="286941"/>
                    <a:pt x="145532" y="286941"/>
                  </a:cubicBezTo>
                  <a:lnTo>
                    <a:pt x="143471" y="286941"/>
                  </a:lnTo>
                  <a:cubicBezTo>
                    <a:pt x="105420" y="286941"/>
                    <a:pt x="68928" y="271826"/>
                    <a:pt x="42022" y="244920"/>
                  </a:cubicBezTo>
                  <a:cubicBezTo>
                    <a:pt x="15116" y="218014"/>
                    <a:pt x="0" y="181521"/>
                    <a:pt x="0" y="143471"/>
                  </a:cubicBezTo>
                  <a:lnTo>
                    <a:pt x="0" y="143471"/>
                  </a:lnTo>
                  <a:cubicBezTo>
                    <a:pt x="0" y="105420"/>
                    <a:pt x="15116" y="68928"/>
                    <a:pt x="42022" y="42022"/>
                  </a:cubicBezTo>
                  <a:cubicBezTo>
                    <a:pt x="68928" y="15116"/>
                    <a:pt x="105420" y="0"/>
                    <a:pt x="143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9003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101333" y="1741715"/>
            <a:ext cx="1664529" cy="166452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952500"/>
            <a:ext cx="18288000" cy="953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用处</a:t>
            </a:r>
          </a:p>
          <a:p>
            <a:pPr algn="just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提升用户体验：</a:t>
            </a:r>
          </a:p>
          <a:p>
            <a:pPr algn="just" marL="1165863" indent="-388621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HCI通过优化界面设计（如触摸屏、语音控制）使操作更直观，减少学习曲线。例如，智能手机的触控界面让用户无需专业知识即可使用。</a:t>
            </a:r>
          </a:p>
          <a:p>
            <a:pPr algn="just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提高效率：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智能助手（如Si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ri、Alexa）利用HCI技术，通过自然语言处理加速任务执行，如设置提醒或搜索信息。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个性化定制：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HCI支持用户偏好设置（如自定义主题、语音识别调整），增强产品适配性。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无障碍设计：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HCI推动了针对残障人士的适配功能（如屏幕阅读器），扩大了消费电子的市场覆盖。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影响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技术创新驱动：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HCI催生了新交互方式，如手势控制（Nintendo Switch）和AR/VR（Meta Quest），推动消费电子产品迭代。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市场竞争加剧：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品牌通过更好的HCI设计（如苹果的iOS界面）吸引用户，促使行业整体提升标准。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用户期望提升：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随着HCI技术进步，用户对流畅性、响应速度和易用性要求更高，迫使制造商不断优化。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社会行为改变：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HCI促成了移动支付、社交媒体等新使用场景，深刻影响了日常生活和消费习惯。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622067">
            <a:off x="-1799682" y="5182569"/>
            <a:ext cx="13398293" cy="9695492"/>
          </a:xfrm>
          <a:custGeom>
            <a:avLst/>
            <a:gdLst/>
            <a:ahLst/>
            <a:cxnLst/>
            <a:rect r="r" b="b" t="t" l="l"/>
            <a:pathLst>
              <a:path h="9695492" w="13398293">
                <a:moveTo>
                  <a:pt x="13398293" y="0"/>
                </a:moveTo>
                <a:lnTo>
                  <a:pt x="0" y="0"/>
                </a:lnTo>
                <a:lnTo>
                  <a:pt x="0" y="9695493"/>
                </a:lnTo>
                <a:lnTo>
                  <a:pt x="13398293" y="9695493"/>
                </a:lnTo>
                <a:lnTo>
                  <a:pt x="133982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66675"/>
            <a:ext cx="182880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HCI对Healthcare用处和影响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720470">
            <a:off x="-3516807" y="45370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3348" y="8447529"/>
            <a:ext cx="925952" cy="919347"/>
            <a:chOff x="0" y="0"/>
            <a:chExt cx="289003" cy="2869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9003" cy="286941"/>
            </a:xfrm>
            <a:custGeom>
              <a:avLst/>
              <a:gdLst/>
              <a:ahLst/>
              <a:cxnLst/>
              <a:rect r="r" b="b" t="t" l="l"/>
              <a:pathLst>
                <a:path h="286941" w="289003">
                  <a:moveTo>
                    <a:pt x="143471" y="0"/>
                  </a:moveTo>
                  <a:lnTo>
                    <a:pt x="145532" y="0"/>
                  </a:lnTo>
                  <a:cubicBezTo>
                    <a:pt x="183583" y="0"/>
                    <a:pt x="220075" y="15116"/>
                    <a:pt x="246981" y="42022"/>
                  </a:cubicBezTo>
                  <a:cubicBezTo>
                    <a:pt x="273887" y="68928"/>
                    <a:pt x="289003" y="105420"/>
                    <a:pt x="289003" y="143471"/>
                  </a:cubicBezTo>
                  <a:lnTo>
                    <a:pt x="289003" y="143471"/>
                  </a:lnTo>
                  <a:cubicBezTo>
                    <a:pt x="289003" y="181521"/>
                    <a:pt x="273887" y="218014"/>
                    <a:pt x="246981" y="244920"/>
                  </a:cubicBezTo>
                  <a:cubicBezTo>
                    <a:pt x="220075" y="271826"/>
                    <a:pt x="183583" y="286941"/>
                    <a:pt x="145532" y="286941"/>
                  </a:cubicBezTo>
                  <a:lnTo>
                    <a:pt x="143471" y="286941"/>
                  </a:lnTo>
                  <a:cubicBezTo>
                    <a:pt x="105420" y="286941"/>
                    <a:pt x="68928" y="271826"/>
                    <a:pt x="42022" y="244920"/>
                  </a:cubicBezTo>
                  <a:cubicBezTo>
                    <a:pt x="15116" y="218014"/>
                    <a:pt x="0" y="181521"/>
                    <a:pt x="0" y="143471"/>
                  </a:cubicBezTo>
                  <a:lnTo>
                    <a:pt x="0" y="143471"/>
                  </a:lnTo>
                  <a:cubicBezTo>
                    <a:pt x="0" y="105420"/>
                    <a:pt x="15116" y="68928"/>
                    <a:pt x="42022" y="42022"/>
                  </a:cubicBezTo>
                  <a:cubicBezTo>
                    <a:pt x="68928" y="15116"/>
                    <a:pt x="105420" y="0"/>
                    <a:pt x="143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9003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101333" y="1741715"/>
            <a:ext cx="1664529" cy="166452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952500"/>
            <a:ext cx="18288000" cy="953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用处</a:t>
            </a:r>
          </a:p>
          <a:p>
            <a:pPr algn="just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提高诊断准确性：</a:t>
            </a:r>
          </a:p>
          <a:p>
            <a:pPr algn="just" marL="1165863" indent="-388621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HCI支持智能医疗设备（如AI辅助诊断系统），通过直观界面帮助医生分析影像或数据，例如CT扫描的交互式显示。</a:t>
            </a:r>
          </a:p>
          <a:p>
            <a:pPr algn="just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优化患者管理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电子健康记录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（EHR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）系统利用HCI设计，使医护人员能快速记录和访问患者信息，减少人为错误。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增强远程医疗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HCI推动了视频咨询和可穿戴设备（如智能手表）的用户友好界面，方便患者与医生实时互动。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支持患者教育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通过易用的应用程序或交互式教程，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HCI帮助患者理解疾病管理，如糖尿病血糖监控的应用。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影响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医疗效率提升：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HCI简化了复杂医疗流程（如手术模拟器），缩短了治疗准备时间。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成本降低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自动化和直观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界面减少了行政工作量，例如自动化的预约系统，降低运营成本。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患者参与度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提高：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易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用的健康应用程序（如Fitbit）鼓励患者主动管理健康，改善治疗依从性。</a:t>
            </a:r>
          </a:p>
          <a:p>
            <a:pPr algn="just" marL="582932" indent="-291466" lvl="1">
              <a:lnSpc>
                <a:spcPts val="3780"/>
              </a:lnSpc>
              <a:spcBef>
                <a:spcPct val="0"/>
              </a:spcBef>
              <a:buAutoNum type="arabicPeriod" startAt="1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技术融合加速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165863" indent="-388621" lvl="2">
              <a:lnSpc>
                <a:spcPts val="3780"/>
              </a:lnSpc>
              <a:spcBef>
                <a:spcPct val="0"/>
              </a:spcBef>
              <a:buFont typeface="Arial"/>
              <a:buChar char="⚬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HCI推动了AI、物联网（IoT）与医疗设备的整合，如智能床的实时监控系统。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837">
                <a:alpha val="100000"/>
              </a:srgbClr>
            </a:gs>
            <a:gs pos="100000">
              <a:srgbClr val="1A486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916" y="0"/>
            <a:ext cx="9519916" cy="10287000"/>
          </a:xfrm>
          <a:custGeom>
            <a:avLst/>
            <a:gdLst/>
            <a:ahLst/>
            <a:cxnLst/>
            <a:rect r="r" b="b" t="t" l="l"/>
            <a:pathLst>
              <a:path h="10287000" w="9519916">
                <a:moveTo>
                  <a:pt x="0" y="0"/>
                </a:moveTo>
                <a:lnTo>
                  <a:pt x="9519916" y="0"/>
                </a:lnTo>
                <a:lnTo>
                  <a:pt x="9519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4613" t="0" r="0" b="-910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621861" cy="10287000"/>
          </a:xfrm>
          <a:custGeom>
            <a:avLst/>
            <a:gdLst/>
            <a:ahLst/>
            <a:cxnLst/>
            <a:rect r="r" b="b" t="t" l="l"/>
            <a:pathLst>
              <a:path h="10287000" w="9621861">
                <a:moveTo>
                  <a:pt x="0" y="0"/>
                </a:moveTo>
                <a:lnTo>
                  <a:pt x="9621861" y="0"/>
                </a:lnTo>
                <a:lnTo>
                  <a:pt x="96218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-52975" b="-9109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622067">
            <a:off x="-1799682" y="5182569"/>
            <a:ext cx="13398293" cy="9695492"/>
          </a:xfrm>
          <a:custGeom>
            <a:avLst/>
            <a:gdLst/>
            <a:ahLst/>
            <a:cxnLst/>
            <a:rect r="r" b="b" t="t" l="l"/>
            <a:pathLst>
              <a:path h="9695492" w="13398293">
                <a:moveTo>
                  <a:pt x="13398293" y="0"/>
                </a:moveTo>
                <a:lnTo>
                  <a:pt x="0" y="0"/>
                </a:lnTo>
                <a:lnTo>
                  <a:pt x="0" y="9695493"/>
                </a:lnTo>
                <a:lnTo>
                  <a:pt x="13398293" y="9695493"/>
                </a:lnTo>
                <a:lnTo>
                  <a:pt x="133982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38100"/>
            <a:ext cx="18288000" cy="95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HCI对Industrial and Commercial Systems用处和影响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720470">
            <a:off x="-3516807" y="4537026"/>
            <a:ext cx="10212044" cy="7389806"/>
          </a:xfrm>
          <a:custGeom>
            <a:avLst/>
            <a:gdLst/>
            <a:ahLst/>
            <a:cxnLst/>
            <a:rect r="r" b="b" t="t" l="l"/>
            <a:pathLst>
              <a:path h="7389806" w="10212044">
                <a:moveTo>
                  <a:pt x="0" y="0"/>
                </a:moveTo>
                <a:lnTo>
                  <a:pt x="10212044" y="0"/>
                </a:lnTo>
                <a:lnTo>
                  <a:pt x="10212044" y="7389806"/>
                </a:lnTo>
                <a:lnTo>
                  <a:pt x="0" y="73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3348" y="8447529"/>
            <a:ext cx="925952" cy="919347"/>
            <a:chOff x="0" y="0"/>
            <a:chExt cx="289003" cy="2869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9003" cy="286941"/>
            </a:xfrm>
            <a:custGeom>
              <a:avLst/>
              <a:gdLst/>
              <a:ahLst/>
              <a:cxnLst/>
              <a:rect r="r" b="b" t="t" l="l"/>
              <a:pathLst>
                <a:path h="286941" w="289003">
                  <a:moveTo>
                    <a:pt x="143471" y="0"/>
                  </a:moveTo>
                  <a:lnTo>
                    <a:pt x="145532" y="0"/>
                  </a:lnTo>
                  <a:cubicBezTo>
                    <a:pt x="183583" y="0"/>
                    <a:pt x="220075" y="15116"/>
                    <a:pt x="246981" y="42022"/>
                  </a:cubicBezTo>
                  <a:cubicBezTo>
                    <a:pt x="273887" y="68928"/>
                    <a:pt x="289003" y="105420"/>
                    <a:pt x="289003" y="143471"/>
                  </a:cubicBezTo>
                  <a:lnTo>
                    <a:pt x="289003" y="143471"/>
                  </a:lnTo>
                  <a:cubicBezTo>
                    <a:pt x="289003" y="181521"/>
                    <a:pt x="273887" y="218014"/>
                    <a:pt x="246981" y="244920"/>
                  </a:cubicBezTo>
                  <a:cubicBezTo>
                    <a:pt x="220075" y="271826"/>
                    <a:pt x="183583" y="286941"/>
                    <a:pt x="145532" y="286941"/>
                  </a:cubicBezTo>
                  <a:lnTo>
                    <a:pt x="143471" y="286941"/>
                  </a:lnTo>
                  <a:cubicBezTo>
                    <a:pt x="105420" y="286941"/>
                    <a:pt x="68928" y="271826"/>
                    <a:pt x="42022" y="244920"/>
                  </a:cubicBezTo>
                  <a:cubicBezTo>
                    <a:pt x="15116" y="218014"/>
                    <a:pt x="0" y="181521"/>
                    <a:pt x="0" y="143471"/>
                  </a:cubicBezTo>
                  <a:lnTo>
                    <a:pt x="0" y="143471"/>
                  </a:lnTo>
                  <a:cubicBezTo>
                    <a:pt x="0" y="105420"/>
                    <a:pt x="15116" y="68928"/>
                    <a:pt x="42022" y="42022"/>
                  </a:cubicBezTo>
                  <a:cubicBezTo>
                    <a:pt x="68928" y="15116"/>
                    <a:pt x="105420" y="0"/>
                    <a:pt x="143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9003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6650402" y="8694263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80"/>
                </a:lnTo>
                <a:lnTo>
                  <a:pt x="0" y="425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101333" y="1741715"/>
            <a:ext cx="1664529" cy="166452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D83FA">
                    <a:alpha val="100000"/>
                  </a:srgbClr>
                </a:gs>
                <a:gs pos="100000">
                  <a:srgbClr val="4FFFE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952500"/>
            <a:ext cx="18288000" cy="977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用处</a:t>
            </a:r>
          </a:p>
          <a:p>
            <a:pPr algn="just" marL="626111" indent="-313055" lvl="1">
              <a:lnSpc>
                <a:spcPts val="4060"/>
              </a:lnSpc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优化操作效率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252221" indent="-417407" lvl="2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HCI通过直观控制面板（如工业机器人界面）帮助工人快速调整设备参数，减少停机时间。</a:t>
            </a:r>
          </a:p>
          <a:p>
            <a:pPr algn="just" marL="626111" indent="-313055" lvl="1">
              <a:lnSpc>
                <a:spcPts val="4060"/>
              </a:lnSpc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提升数据管理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商业系统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（如ERP软件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）利用HCI设计，让经理轻松分析销售或库存数据，做出实时决策。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增强培训效果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交互式模拟器（如虚拟工厂培训工具）通过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HCI降低新员工上手难度，加速技能掌握。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支持远程监控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HCI使操作员能通过移动设备远程管理生产线或商业网络，增强灵活性。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影响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生产力提升：</a:t>
            </a:r>
          </a:p>
          <a:p>
            <a:pPr algn="just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直观的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HCI界面减少人为错误，如制造业中的设备误操作，增加产量。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成本优化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自动化和易用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系统降低培训和维护成本，例如零售POS系统的用户友好设计。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创新推动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：</a:t>
            </a:r>
          </a:p>
          <a:p>
            <a:pPr algn="just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HCI促进了智能工厂和物联网（IoT）集成，如AR辅助维修工具，引领行业升级。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市场竞争力：</a:t>
            </a:r>
          </a:p>
          <a:p>
            <a:pPr algn="just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商业系统中的优质HCI（如用户友好的客户关系管理软件）吸引企业客户，提升市场份额。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DAGqabvvxcI</dc:identifier>
  <dcterms:modified xsi:type="dcterms:W3CDTF">2011-08-01T06:04:30Z</dcterms:modified>
  <cp:revision>1</cp:revision>
  <dc:title>HCI</dc:title>
</cp:coreProperties>
</file>