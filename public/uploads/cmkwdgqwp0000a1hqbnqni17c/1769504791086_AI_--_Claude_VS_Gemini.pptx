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nva Sans" charset="1" panose="020B0503030501040103"/>
      <p:regular r:id="rId15"/>
    </p:embeddedFont>
    <p:embeddedFont>
      <p:font typeface="WenQuanYi" charset="1" panose="020B0606030804020204"/>
      <p:regular r:id="rId16"/>
    </p:embeddedFont>
    <p:embeddedFont>
      <p:font typeface="Poppins Bold" charset="1" panose="00000800000000000000"/>
      <p:regular r:id="rId17"/>
    </p:embeddedFont>
    <p:embeddedFont>
      <p:font typeface="Poppin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305" t="-11296" r="-7990" b="0"/>
            </a:stretch>
          </a:blipFill>
        </p:spPr>
      </p:sp>
      <p:grpSp>
        <p:nvGrpSpPr>
          <p:cNvPr name="Group 3" id="3"/>
          <p:cNvGrpSpPr/>
          <p:nvPr/>
        </p:nvGrpSpPr>
        <p:grpSpPr>
          <a:xfrm rot="0">
            <a:off x="0" y="3730205"/>
            <a:ext cx="18502431" cy="2826589"/>
            <a:chOff x="0" y="0"/>
            <a:chExt cx="4873068" cy="744451"/>
          </a:xfrm>
        </p:grpSpPr>
        <p:sp>
          <p:nvSpPr>
            <p:cNvPr name="Freeform 4" id="4"/>
            <p:cNvSpPr/>
            <p:nvPr/>
          </p:nvSpPr>
          <p:spPr>
            <a:xfrm flipH="false" flipV="false" rot="0">
              <a:off x="0" y="0"/>
              <a:ext cx="4873068" cy="744451"/>
            </a:xfrm>
            <a:custGeom>
              <a:avLst/>
              <a:gdLst/>
              <a:ahLst/>
              <a:cxnLst/>
              <a:rect r="r" b="b" t="t" l="l"/>
              <a:pathLst>
                <a:path h="744451" w="4873068">
                  <a:moveTo>
                    <a:pt x="0" y="0"/>
                  </a:moveTo>
                  <a:lnTo>
                    <a:pt x="4873068" y="0"/>
                  </a:lnTo>
                  <a:lnTo>
                    <a:pt x="4873068" y="744451"/>
                  </a:lnTo>
                  <a:lnTo>
                    <a:pt x="0" y="744451"/>
                  </a:lnTo>
                  <a:close/>
                </a:path>
              </a:pathLst>
            </a:custGeom>
            <a:gradFill rotWithShape="true">
              <a:gsLst>
                <a:gs pos="0">
                  <a:srgbClr val="000000">
                    <a:alpha val="41000"/>
                  </a:srgbClr>
                </a:gs>
                <a:gs pos="50000">
                  <a:srgbClr val="0F2949">
                    <a:alpha val="0"/>
                  </a:srgbClr>
                </a:gs>
                <a:gs pos="100000">
                  <a:srgbClr val="328DFF">
                    <a:alpha val="0"/>
                  </a:srgbClr>
                </a:gs>
              </a:gsLst>
              <a:lin ang="0"/>
            </a:gradFill>
          </p:spPr>
        </p:sp>
        <p:sp>
          <p:nvSpPr>
            <p:cNvPr name="TextBox 5" id="5"/>
            <p:cNvSpPr txBox="true"/>
            <p:nvPr/>
          </p:nvSpPr>
          <p:spPr>
            <a:xfrm>
              <a:off x="0" y="-38100"/>
              <a:ext cx="4873068" cy="782551"/>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402925" y="3773488"/>
            <a:ext cx="11696581" cy="2635250"/>
          </a:xfrm>
          <a:prstGeom prst="rect">
            <a:avLst/>
          </a:prstGeom>
        </p:spPr>
        <p:txBody>
          <a:bodyPr anchor="t" rtlCol="false" tIns="0" lIns="0" bIns="0" rIns="0">
            <a:spAutoFit/>
          </a:bodyPr>
          <a:lstStyle/>
          <a:p>
            <a:pPr algn="ctr">
              <a:lnSpc>
                <a:spcPts val="7000"/>
              </a:lnSpc>
              <a:spcBef>
                <a:spcPct val="0"/>
              </a:spcBef>
            </a:pPr>
            <a:r>
              <a:rPr lang="en-US" sz="5000">
                <a:solidFill>
                  <a:srgbClr val="FFFFFF"/>
                </a:solidFill>
                <a:latin typeface="Canva Sans"/>
                <a:ea typeface="Canva Sans"/>
                <a:cs typeface="Canva Sans"/>
                <a:sym typeface="Canva Sans"/>
              </a:rPr>
              <a:t>Member Name ： Liang Sze Kai </a:t>
            </a:r>
          </a:p>
          <a:p>
            <a:pPr algn="ctr">
              <a:lnSpc>
                <a:spcPts val="7000"/>
              </a:lnSpc>
              <a:spcBef>
                <a:spcPct val="0"/>
              </a:spcBef>
            </a:pPr>
            <a:r>
              <a:rPr lang="en-US" sz="5000">
                <a:solidFill>
                  <a:srgbClr val="FFFFFF"/>
                </a:solidFill>
                <a:latin typeface="Canva Sans"/>
                <a:ea typeface="Canva Sans"/>
                <a:cs typeface="Canva Sans"/>
                <a:sym typeface="Canva Sans"/>
              </a:rPr>
              <a:t>Subjet Name : Comparison between AI</a:t>
            </a:r>
          </a:p>
          <a:p>
            <a:pPr algn="ctr">
              <a:lnSpc>
                <a:spcPts val="7000"/>
              </a:lnSpc>
              <a:spcBef>
                <a:spcPct val="0"/>
              </a:spcBef>
            </a:pPr>
            <a:r>
              <a:rPr lang="en-US" sz="5000">
                <a:solidFill>
                  <a:srgbClr val="FFFFFF"/>
                </a:solidFill>
                <a:latin typeface="Canva Sans"/>
                <a:ea typeface="Canva Sans"/>
                <a:cs typeface="Canva Sans"/>
                <a:sym typeface="Canva Sans"/>
              </a:rPr>
              <a:t>（Gemini VS Claude)</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5205B"/>
        </a:solidFill>
      </p:bgPr>
    </p:bg>
    <p:spTree>
      <p:nvGrpSpPr>
        <p:cNvPr id="1" name=""/>
        <p:cNvGrpSpPr/>
        <p:nvPr/>
      </p:nvGrpSpPr>
      <p:grpSpPr>
        <a:xfrm>
          <a:off x="0" y="0"/>
          <a:ext cx="0" cy="0"/>
          <a:chOff x="0" y="0"/>
          <a:chExt cx="0" cy="0"/>
        </a:xfrm>
      </p:grpSpPr>
      <p:sp>
        <p:nvSpPr>
          <p:cNvPr name="TextBox 2" id="2"/>
          <p:cNvSpPr txBox="true"/>
          <p:nvPr/>
        </p:nvSpPr>
        <p:spPr>
          <a:xfrm rot="0">
            <a:off x="6013192" y="447675"/>
            <a:ext cx="6261616" cy="10382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WenQuanYi"/>
                <a:ea typeface="WenQuanYi"/>
                <a:cs typeface="WenQuanYi"/>
                <a:sym typeface="WenQuanYi"/>
              </a:rPr>
              <a:t>Claude AI Benefits</a:t>
            </a:r>
          </a:p>
        </p:txBody>
      </p:sp>
      <p:sp>
        <p:nvSpPr>
          <p:cNvPr name="TextBox 3" id="3"/>
          <p:cNvSpPr txBox="true"/>
          <p:nvPr/>
        </p:nvSpPr>
        <p:spPr>
          <a:xfrm rot="0">
            <a:off x="0" y="1831975"/>
            <a:ext cx="18288000" cy="8084820"/>
          </a:xfrm>
          <a:prstGeom prst="rect">
            <a:avLst/>
          </a:prstGeom>
        </p:spPr>
        <p:txBody>
          <a:bodyPr anchor="t" rtlCol="false" tIns="0" lIns="0" bIns="0" rIns="0">
            <a:spAutoFit/>
          </a:bodyPr>
          <a:lstStyle/>
          <a:p>
            <a:pPr algn="ctr">
              <a:lnSpc>
                <a:spcPts val="3779"/>
              </a:lnSpc>
              <a:spcBef>
                <a:spcPct val="0"/>
              </a:spcBef>
            </a:pPr>
            <a:r>
              <a:rPr lang="en-US" sz="2699">
                <a:solidFill>
                  <a:srgbClr val="FFFFFF"/>
                </a:solidFill>
                <a:latin typeface="WenQuanYi"/>
                <a:ea typeface="WenQuanYi"/>
                <a:cs typeface="WenQuanYi"/>
                <a:sym typeface="WenQuanYi"/>
              </a:rPr>
              <a:t>Reliability &amp; Reasoning: Str</a:t>
            </a:r>
            <a:r>
              <a:rPr lang="en-US" sz="2699">
                <a:solidFill>
                  <a:srgbClr val="FFFFFF"/>
                </a:solidFill>
                <a:latin typeface="WenQuanYi"/>
                <a:ea typeface="WenQuanYi"/>
                <a:cs typeface="WenQuanYi"/>
                <a:sym typeface="WenQuanYi"/>
              </a:rPr>
              <a:t>ong in complex logic, technical tasks (coding, debugging), and ethical considerations, offering careful, detailed, and production-ready results.</a:t>
            </a:r>
          </a:p>
          <a:p>
            <a:pPr algn="ctr">
              <a:lnSpc>
                <a:spcPts val="3779"/>
              </a:lnSpc>
              <a:spcBef>
                <a:spcPct val="0"/>
              </a:spcBef>
            </a:pPr>
            <a:r>
              <a:rPr lang="en-US" sz="2699">
                <a:solidFill>
                  <a:srgbClr val="FFDE59"/>
                </a:solidFill>
                <a:latin typeface="WenQuanYi"/>
                <a:ea typeface="WenQuanYi"/>
                <a:cs typeface="WenQuanYi"/>
                <a:sym typeface="WenQuanYi"/>
              </a:rPr>
              <a:t>可靠性和推理能力：在复杂逻辑、技术任务（编码、调试）和伦理考量方面表现出色，能够提供细致入微且可直接用于生产环境的结果。</a:t>
            </a:r>
          </a:p>
          <a:p>
            <a:pPr algn="ctr">
              <a:lnSpc>
                <a:spcPts val="3779"/>
              </a:lnSpc>
              <a:spcBef>
                <a:spcPct val="0"/>
              </a:spcBef>
            </a:pPr>
          </a:p>
          <a:p>
            <a:pPr algn="ctr">
              <a:lnSpc>
                <a:spcPts val="3779"/>
              </a:lnSpc>
              <a:spcBef>
                <a:spcPct val="0"/>
              </a:spcBef>
            </a:pPr>
            <a:r>
              <a:rPr lang="en-US" sz="2699">
                <a:solidFill>
                  <a:srgbClr val="FFFFFF"/>
                </a:solidFill>
                <a:latin typeface="WenQuanYi"/>
                <a:ea typeface="WenQuanYi"/>
                <a:cs typeface="WenQuanYi"/>
                <a:sym typeface="WenQuanYi"/>
              </a:rPr>
              <a:t>Long-text context: Ideal for analyzing and summarizing long documents, even book-length texts. Supports up to approximately 200,000 token contexts.</a:t>
            </a:r>
          </a:p>
          <a:p>
            <a:pPr algn="ctr">
              <a:lnSpc>
                <a:spcPts val="3779"/>
              </a:lnSpc>
              <a:spcBef>
                <a:spcPct val="0"/>
              </a:spcBef>
            </a:pPr>
            <a:r>
              <a:rPr lang="en-US" sz="2699">
                <a:solidFill>
                  <a:srgbClr val="FFDE59"/>
                </a:solidFill>
                <a:latin typeface="WenQuanYi"/>
                <a:ea typeface="WenQuanYi"/>
                <a:cs typeface="WenQuanYi"/>
                <a:sym typeface="WenQuanYi"/>
              </a:rPr>
              <a:t>长篇上下文：非常适合分析和总结长篇文档，甚至是书籍长度的文本。支持最大约 200 000 个 token 上下文</a:t>
            </a:r>
          </a:p>
          <a:p>
            <a:pPr algn="ctr">
              <a:lnSpc>
                <a:spcPts val="3779"/>
              </a:lnSpc>
              <a:spcBef>
                <a:spcPct val="0"/>
              </a:spcBef>
            </a:pPr>
          </a:p>
          <a:p>
            <a:pPr algn="ctr">
              <a:lnSpc>
                <a:spcPts val="3779"/>
              </a:lnSpc>
              <a:spcBef>
                <a:spcPct val="0"/>
              </a:spcBef>
            </a:pPr>
            <a:r>
              <a:rPr lang="en-US" sz="2699">
                <a:solidFill>
                  <a:srgbClr val="FFFFFF"/>
                </a:solidFill>
                <a:latin typeface="WenQuanYi"/>
                <a:ea typeface="WenQuanYi"/>
                <a:cs typeface="WenQuanYi"/>
                <a:sym typeface="WenQuanYi"/>
              </a:rPr>
              <a:t>Professional and Developer Tool Support: Strong performance for professional tasks such as code generation, code review, and logical reasoning. Can be integrated into software, workflows, or automation systems via API.</a:t>
            </a:r>
          </a:p>
          <a:p>
            <a:pPr algn="ctr">
              <a:lnSpc>
                <a:spcPts val="3779"/>
              </a:lnSpc>
              <a:spcBef>
                <a:spcPct val="0"/>
              </a:spcBef>
            </a:pPr>
            <a:r>
              <a:rPr lang="en-US" sz="2699">
                <a:solidFill>
                  <a:srgbClr val="FFDE59"/>
                </a:solidFill>
                <a:latin typeface="WenQuanYi"/>
                <a:ea typeface="WenQuanYi"/>
                <a:cs typeface="WenQuanYi"/>
                <a:sym typeface="WenQuanYi"/>
              </a:rPr>
              <a:t>专业与开发者工具支持: 对代码生成、代码审查、逻辑推理 等专业任务表现强。可通过 API 整合到软件、工作流程或自动化系统中。</a:t>
            </a:r>
          </a:p>
          <a:p>
            <a:pPr algn="ctr">
              <a:lnSpc>
                <a:spcPts val="3779"/>
              </a:lnSpc>
              <a:spcBef>
                <a:spcPct val="0"/>
              </a:spcBef>
            </a:pPr>
          </a:p>
          <a:p>
            <a:pPr algn="ctr">
              <a:lnSpc>
                <a:spcPts val="3779"/>
              </a:lnSpc>
              <a:spcBef>
                <a:spcPct val="0"/>
              </a:spcBef>
            </a:pPr>
            <a:r>
              <a:rPr lang="en-US" sz="2699">
                <a:solidFill>
                  <a:srgbClr val="FFFFFF"/>
                </a:solidFill>
                <a:latin typeface="WenQuanYi"/>
                <a:ea typeface="WenQuanYi"/>
                <a:cs typeface="WenQuanYi"/>
                <a:sym typeface="WenQuanYi"/>
              </a:rPr>
              <a:t>Enterprise Focus: Built with safety and explainability in mind, ideal for professional environments needing careful handling of data. </a:t>
            </a:r>
          </a:p>
          <a:p>
            <a:pPr algn="ctr">
              <a:lnSpc>
                <a:spcPts val="3779"/>
              </a:lnSpc>
              <a:spcBef>
                <a:spcPct val="0"/>
              </a:spcBef>
            </a:pPr>
            <a:r>
              <a:rPr lang="en-US" sz="2699">
                <a:solidFill>
                  <a:srgbClr val="FFDE59"/>
                </a:solidFill>
                <a:latin typeface="WenQuanYi"/>
                <a:ea typeface="WenQuanYi"/>
                <a:cs typeface="WenQuanYi"/>
                <a:sym typeface="WenQuanYi"/>
              </a:rPr>
              <a:t>企业级应用：以安全性和可解释性为设计理念，是需要谨慎处理数据的专业环境的理想之选。</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5205B"/>
        </a:solidFill>
      </p:bgPr>
    </p:bg>
    <p:spTree>
      <p:nvGrpSpPr>
        <p:cNvPr id="1" name=""/>
        <p:cNvGrpSpPr/>
        <p:nvPr/>
      </p:nvGrpSpPr>
      <p:grpSpPr>
        <a:xfrm>
          <a:off x="0" y="0"/>
          <a:ext cx="0" cy="0"/>
          <a:chOff x="0" y="0"/>
          <a:chExt cx="0" cy="0"/>
        </a:xfrm>
      </p:grpSpPr>
      <p:sp>
        <p:nvSpPr>
          <p:cNvPr name="TextBox 2" id="2"/>
          <p:cNvSpPr txBox="true"/>
          <p:nvPr/>
        </p:nvSpPr>
        <p:spPr>
          <a:xfrm rot="0">
            <a:off x="5965567" y="447675"/>
            <a:ext cx="6356866" cy="10382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WenQuanYi"/>
                <a:ea typeface="WenQuanYi"/>
                <a:cs typeface="WenQuanYi"/>
                <a:sym typeface="WenQuanYi"/>
              </a:rPr>
              <a:t>Gemini AI Benefits</a:t>
            </a:r>
          </a:p>
        </p:txBody>
      </p:sp>
      <p:sp>
        <p:nvSpPr>
          <p:cNvPr name="TextBox 3" id="3"/>
          <p:cNvSpPr txBox="true"/>
          <p:nvPr/>
        </p:nvSpPr>
        <p:spPr>
          <a:xfrm rot="0">
            <a:off x="0" y="1831975"/>
            <a:ext cx="18288000" cy="8084820"/>
          </a:xfrm>
          <a:prstGeom prst="rect">
            <a:avLst/>
          </a:prstGeom>
        </p:spPr>
        <p:txBody>
          <a:bodyPr anchor="t" rtlCol="false" tIns="0" lIns="0" bIns="0" rIns="0">
            <a:spAutoFit/>
          </a:bodyPr>
          <a:lstStyle/>
          <a:p>
            <a:pPr algn="ctr">
              <a:lnSpc>
                <a:spcPts val="3779"/>
              </a:lnSpc>
              <a:spcBef>
                <a:spcPct val="0"/>
              </a:spcBef>
            </a:pPr>
            <a:r>
              <a:rPr lang="en-US" sz="2699">
                <a:solidFill>
                  <a:srgbClr val="FFFFFF"/>
                </a:solidFill>
                <a:latin typeface="WenQuanYi"/>
                <a:ea typeface="WenQuanYi"/>
                <a:cs typeface="WenQuanYi"/>
                <a:sym typeface="WenQuanYi"/>
              </a:rPr>
              <a:t>Multi</a:t>
            </a:r>
            <a:r>
              <a:rPr lang="en-US" sz="2699">
                <a:solidFill>
                  <a:srgbClr val="FFFFFF"/>
                </a:solidFill>
                <a:latin typeface="WenQuanYi"/>
                <a:ea typeface="WenQuanYi"/>
                <a:cs typeface="WenQuanYi"/>
                <a:sym typeface="WenQuanYi"/>
              </a:rPr>
              <a:t>modal Power: Seamlessly handles text, images, audio, and video inputs, making it versatile for diverse data.</a:t>
            </a:r>
          </a:p>
          <a:p>
            <a:pPr algn="ctr">
              <a:lnSpc>
                <a:spcPts val="3779"/>
              </a:lnSpc>
              <a:spcBef>
                <a:spcPct val="0"/>
              </a:spcBef>
            </a:pPr>
            <a:r>
              <a:rPr lang="en-US" sz="2699">
                <a:solidFill>
                  <a:srgbClr val="FFDE59"/>
                </a:solidFill>
                <a:latin typeface="WenQuanYi"/>
                <a:ea typeface="WenQuanYi"/>
                <a:cs typeface="WenQuanYi"/>
                <a:sym typeface="WenQuanYi"/>
              </a:rPr>
              <a:t>多模态处理能力：无缝处理文本、图像、音频和视频输入，使其能够灵活应对各种类型的数据。</a:t>
            </a:r>
          </a:p>
          <a:p>
            <a:pPr algn="ctr">
              <a:lnSpc>
                <a:spcPts val="3779"/>
              </a:lnSpc>
              <a:spcBef>
                <a:spcPct val="0"/>
              </a:spcBef>
            </a:pPr>
          </a:p>
          <a:p>
            <a:pPr algn="ctr">
              <a:lnSpc>
                <a:spcPts val="3779"/>
              </a:lnSpc>
              <a:spcBef>
                <a:spcPct val="0"/>
              </a:spcBef>
            </a:pPr>
            <a:r>
              <a:rPr lang="en-US" sz="2699">
                <a:solidFill>
                  <a:srgbClr val="FFFFFF"/>
                </a:solidFill>
                <a:latin typeface="WenQuanYi"/>
                <a:ea typeface="WenQuanYi"/>
                <a:cs typeface="WenQuanYi"/>
                <a:sym typeface="WenQuanYi"/>
              </a:rPr>
              <a:t>Real-time Web Information Access: Because it connects to Google Search in real time, Gemini can access the latest web information, news, and facts. Its responses no longer rely solely on training data, but provide more timely and accurate results, which is extremely useful for research, decision-making, and querying rapidly changing content.</a:t>
            </a:r>
          </a:p>
          <a:p>
            <a:pPr algn="ctr">
              <a:lnSpc>
                <a:spcPts val="3779"/>
              </a:lnSpc>
              <a:spcBef>
                <a:spcPct val="0"/>
              </a:spcBef>
            </a:pPr>
            <a:r>
              <a:rPr lang="en-US" sz="2699">
                <a:solidFill>
                  <a:srgbClr val="FFDE59"/>
                </a:solidFill>
                <a:latin typeface="WenQuanYi"/>
                <a:ea typeface="WenQuanYi"/>
                <a:cs typeface="WenQuanYi"/>
                <a:sym typeface="WenQuanYi"/>
              </a:rPr>
              <a:t>实时网络信息接入: 因为它与 Google 搜索实时连接，Gemini 可以获取最新的网络信息、新闻与事实，回答时不再只依赖训练时的数据，而是提供更及时、准确的结果，这对研究、决策和查询快速变化的内容非常有用。</a:t>
            </a:r>
          </a:p>
          <a:p>
            <a:pPr algn="ctr">
              <a:lnSpc>
                <a:spcPts val="3779"/>
              </a:lnSpc>
              <a:spcBef>
                <a:spcPct val="0"/>
              </a:spcBef>
            </a:pPr>
          </a:p>
          <a:p>
            <a:pPr algn="ctr">
              <a:lnSpc>
                <a:spcPts val="3779"/>
              </a:lnSpc>
              <a:spcBef>
                <a:spcPct val="0"/>
              </a:spcBef>
            </a:pPr>
            <a:r>
              <a:rPr lang="en-US" sz="2699">
                <a:solidFill>
                  <a:srgbClr val="FFFFFF"/>
                </a:solidFill>
                <a:latin typeface="WenQuanYi"/>
                <a:ea typeface="WenQuanYi"/>
                <a:cs typeface="WenQuanYi"/>
                <a:sym typeface="WenQuanYi"/>
              </a:rPr>
              <a:t>Speed &amp; Scale: Models like Gemini Flash offer rapid output, and its large context window handles huge codebases efficiently.</a:t>
            </a:r>
          </a:p>
          <a:p>
            <a:pPr algn="ctr">
              <a:lnSpc>
                <a:spcPts val="3779"/>
              </a:lnSpc>
              <a:spcBef>
                <a:spcPct val="0"/>
              </a:spcBef>
            </a:pPr>
            <a:r>
              <a:rPr lang="en-US" sz="2699">
                <a:solidFill>
                  <a:srgbClr val="FFDE59"/>
                </a:solidFill>
                <a:latin typeface="WenQuanYi"/>
                <a:ea typeface="WenQuanYi"/>
                <a:cs typeface="WenQuanYi"/>
                <a:sym typeface="WenQuanYi"/>
              </a:rPr>
              <a:t>速度与规模：Gemini Flash 等模型能够快速输出结果，其宽大的上下文窗口可以高效地处理庞大的代码库。</a:t>
            </a:r>
          </a:p>
          <a:p>
            <a:pPr algn="ctr">
              <a:lnSpc>
                <a:spcPts val="3779"/>
              </a:lnSpc>
              <a:spcBef>
                <a:spcPct val="0"/>
              </a:spcBef>
            </a:pPr>
          </a:p>
          <a:p>
            <a:pPr algn="ctr">
              <a:lnSpc>
                <a:spcPts val="3779"/>
              </a:lnSpc>
              <a:spcBef>
                <a:spcPct val="0"/>
              </a:spcBef>
            </a:pPr>
            <a:r>
              <a:rPr lang="en-US" sz="2699">
                <a:solidFill>
                  <a:srgbClr val="FFFFFF"/>
                </a:solidFill>
                <a:latin typeface="WenQuanYi"/>
                <a:ea typeface="WenQuanYi"/>
                <a:cs typeface="WenQuanYi"/>
                <a:sym typeface="WenQuanYi"/>
              </a:rPr>
              <a:t>Enhance Learning and Creative Generation: Gemini can help you develop learning plans, generate ideas, draft creative works, proofread articles, and even practice simulated dialogues, helping to improve efficiency and creative output.</a:t>
            </a:r>
          </a:p>
          <a:p>
            <a:pPr algn="ctr">
              <a:lnSpc>
                <a:spcPts val="3779"/>
              </a:lnSpc>
              <a:spcBef>
                <a:spcPct val="0"/>
              </a:spcBef>
            </a:pPr>
            <a:r>
              <a:rPr lang="en-US" sz="2699">
                <a:solidFill>
                  <a:srgbClr val="FFDE59"/>
                </a:solidFill>
                <a:latin typeface="WenQuanYi"/>
                <a:ea typeface="WenQuanYi"/>
                <a:cs typeface="WenQuanYi"/>
                <a:sym typeface="WenQuanYi"/>
              </a:rPr>
              <a:t>提升学习和</a:t>
            </a:r>
            <a:r>
              <a:rPr lang="en-US" sz="2699">
                <a:solidFill>
                  <a:srgbClr val="FFDE59"/>
                </a:solidFill>
                <a:latin typeface="WenQuanYi"/>
                <a:ea typeface="WenQuanYi"/>
                <a:cs typeface="WenQuanYi"/>
                <a:sym typeface="WenQuanYi"/>
              </a:rPr>
              <a:t>创意生成: Gemini 可以帮助制定学习计划、生成点子、起草创意作品、校对文章甚至模拟对话练习，帮助提高效率和创意输出。</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5205B"/>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516242"/>
          <a:ext cx="16571879" cy="8149252"/>
        </p:xfrm>
        <a:graphic>
          <a:graphicData uri="http://schemas.openxmlformats.org/drawingml/2006/table">
            <a:tbl>
              <a:tblPr/>
              <a:tblGrid>
                <a:gridCol w="3950824"/>
                <a:gridCol w="6869052"/>
                <a:gridCol w="5752004"/>
              </a:tblGrid>
              <a:tr h="1125062">
                <a:tc>
                  <a:txBody>
                    <a:bodyPr anchor="t" rtlCol="false"/>
                    <a:lstStyle/>
                    <a:p>
                      <a:pPr algn="ctr">
                        <a:lnSpc>
                          <a:spcPts val="349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Gemini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Claude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7024190">
                <a:tc>
                  <a:txBody>
                    <a:bodyPr anchor="t" rtlCol="false"/>
                    <a:lstStyle/>
                    <a:p>
                      <a:pPr algn="ctr">
                        <a:lnSpc>
                          <a:spcPts val="3220"/>
                        </a:lnSpc>
                        <a:defRPr/>
                      </a:pPr>
                      <a:r>
                        <a:rPr lang="en-US" sz="2300">
                          <a:solidFill>
                            <a:srgbClr val="FFFFFF"/>
                          </a:solidFill>
                          <a:latin typeface="Poppins"/>
                          <a:ea typeface="Poppins"/>
                          <a:cs typeface="Poppins"/>
                          <a:sym typeface="Poppins"/>
                        </a:rPr>
                        <a:t>Multimodal and Data Acquisition</a:t>
                      </a:r>
                      <a:endParaRPr lang="en-US" sz="1100"/>
                    </a:p>
                    <a:p>
                      <a:pPr algn="ctr">
                        <a:lnSpc>
                          <a:spcPts val="3220"/>
                        </a:lnSpc>
                      </a:pPr>
                      <a:r>
                        <a:rPr lang="en-US" sz="2300">
                          <a:solidFill>
                            <a:srgbClr val="FFFFFF"/>
                          </a:solidFill>
                          <a:latin typeface="Poppins"/>
                          <a:ea typeface="Poppins"/>
                          <a:cs typeface="Poppins"/>
                          <a:sym typeface="Poppins"/>
                        </a:rPr>
                        <a:t>多模态与数据获取</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Natively supports multimodal input including images, audio, and video, enabling direct analysis of images and other media.</a:t>
                      </a:r>
                      <a:endParaRPr lang="en-US" sz="1100"/>
                    </a:p>
                    <a:p>
                      <a:pPr algn="ctr" marL="496571" indent="-248285" lvl="1">
                        <a:lnSpc>
                          <a:spcPts val="3220"/>
                        </a:lnSpc>
                        <a:buFont typeface="Arial"/>
                        <a:buChar char="•"/>
                      </a:pPr>
                      <a:r>
                        <a:rPr lang="en-US" sz="2300">
                          <a:solidFill>
                            <a:srgbClr val="FFFFFF"/>
                          </a:solidFill>
                          <a:latin typeface="Poppins"/>
                          <a:ea typeface="Poppins"/>
                          <a:cs typeface="Poppins"/>
                          <a:sym typeface="Poppins"/>
                        </a:rPr>
                        <a:t>原生支持 图像、音频、视频等多模态输入，可以直接分析图像与其他媒体。</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Real-time network connectivity, allowing access to the latest information, search results, and dynamic data.</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实时联网，可引用最新信息、搜索结果和动态数据</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Deep integration with Google Search and Workspace</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深度整合 Google Search 与 Workspace</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Primarily focuses on text input and generation (currently, the main version does not emphasize image or audio parsing).</a:t>
                      </a:r>
                      <a:endParaRPr lang="en-US" sz="1100"/>
                    </a:p>
                    <a:p>
                      <a:pPr algn="ctr" marL="496571" indent="-248285" lvl="1">
                        <a:lnSpc>
                          <a:spcPts val="3220"/>
                        </a:lnSpc>
                        <a:buFont typeface="Arial"/>
                        <a:buChar char="•"/>
                      </a:pPr>
                      <a:r>
                        <a:rPr lang="en-US" sz="2300">
                          <a:solidFill>
                            <a:srgbClr val="FFFFFF"/>
                          </a:solidFill>
                          <a:latin typeface="Poppins"/>
                          <a:ea typeface="Poppins"/>
                          <a:cs typeface="Poppins"/>
                          <a:sym typeface="Poppins"/>
                        </a:rPr>
                        <a:t>主要专注 文本输入与生成</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No native real-time search or network support (relies on training data).</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无原生实时搜索或联网支持（依赖训练数据）。</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6127790" y="150221"/>
            <a:ext cx="6032421" cy="10382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WenQuanYi"/>
                <a:ea typeface="WenQuanYi"/>
                <a:cs typeface="WenQuanYi"/>
                <a:sym typeface="WenQuanYi"/>
              </a:rPr>
              <a:t>Claude VS Gemini</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5205B"/>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516242"/>
          <a:ext cx="16571879" cy="8178192"/>
        </p:xfrm>
        <a:graphic>
          <a:graphicData uri="http://schemas.openxmlformats.org/drawingml/2006/table">
            <a:tbl>
              <a:tblPr/>
              <a:tblGrid>
                <a:gridCol w="2778027"/>
                <a:gridCol w="7162251"/>
                <a:gridCol w="6631601"/>
              </a:tblGrid>
              <a:tr h="1563365">
                <a:tc>
                  <a:txBody>
                    <a:bodyPr anchor="t" rtlCol="false"/>
                    <a:lstStyle/>
                    <a:p>
                      <a:pPr algn="ctr">
                        <a:lnSpc>
                          <a:spcPts val="349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Gemini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Claude (Win)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6614827">
                <a:tc>
                  <a:txBody>
                    <a:bodyPr anchor="t" rtlCol="false"/>
                    <a:lstStyle/>
                    <a:p>
                      <a:pPr algn="ctr">
                        <a:lnSpc>
                          <a:spcPts val="3220"/>
                        </a:lnSpc>
                        <a:defRPr/>
                      </a:pPr>
                      <a:r>
                        <a:rPr lang="en-US" sz="2300">
                          <a:solidFill>
                            <a:srgbClr val="FFFFFF"/>
                          </a:solidFill>
                          <a:latin typeface="Poppins"/>
                          <a:ea typeface="Poppins"/>
                          <a:cs typeface="Poppins"/>
                          <a:sym typeface="Poppins"/>
                        </a:rPr>
                        <a:t>Contextual Understanding and Text Depth</a:t>
                      </a:r>
                      <a:endParaRPr lang="en-US" sz="1100"/>
                    </a:p>
                    <a:p>
                      <a:pPr algn="ctr">
                        <a:lnSpc>
                          <a:spcPts val="3220"/>
                        </a:lnSpc>
                      </a:pPr>
                    </a:p>
                    <a:p>
                      <a:pPr algn="ctr">
                        <a:lnSpc>
                          <a:spcPts val="3220"/>
                        </a:lnSpc>
                      </a:pPr>
                      <a:r>
                        <a:rPr lang="en-US" sz="2300">
                          <a:solidFill>
                            <a:srgbClr val="FFFFFF"/>
                          </a:solidFill>
                          <a:latin typeface="Poppins"/>
                          <a:ea typeface="Poppins"/>
                          <a:cs typeface="Poppins"/>
                          <a:sym typeface="Poppins"/>
                        </a:rPr>
                        <a:t>上下文理解与文本深度</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While also having a large context window, it is generally slightly smaller than Claude in the current version (depending on specific plans and product lines).</a:t>
                      </a:r>
                      <a:endParaRPr lang="en-US" sz="1100"/>
                    </a:p>
                    <a:p>
                      <a:pPr algn="ctr" marL="496571" indent="-248285" lvl="1">
                        <a:lnSpc>
                          <a:spcPts val="3220"/>
                        </a:lnSpc>
                        <a:buFont typeface="Arial"/>
                        <a:buChar char="•"/>
                      </a:pPr>
                      <a:r>
                        <a:rPr lang="en-US" sz="2300">
                          <a:solidFill>
                            <a:srgbClr val="FFFFFF"/>
                          </a:solidFill>
                          <a:latin typeface="Poppins"/>
                          <a:ea typeface="Poppins"/>
                          <a:cs typeface="Poppins"/>
                          <a:sym typeface="Poppins"/>
                        </a:rPr>
                        <a:t>虽然上下文窗口也很大，但在当前版本中通常略低于 Claude（视具体计划与产品线）。</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Reacts quickly to string or common-sense questions, but may not be as "refined" in depth and coherence.</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对字符串或常识问题反应迅速，但在深度、连贯性上可能没那么“细腻”。</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Extremely large context window (handles longer texts and large documents), suitable for long document analysis, research, legal clauses, or complex text generation.</a:t>
                      </a:r>
                      <a:endParaRPr lang="en-US" sz="1100"/>
                    </a:p>
                    <a:p>
                      <a:pPr algn="ctr" marL="496571" indent="-248285" lvl="1">
                        <a:lnSpc>
                          <a:spcPts val="3220"/>
                        </a:lnSpc>
                        <a:buFont typeface="Arial"/>
                        <a:buChar char="•"/>
                      </a:pPr>
                      <a:r>
                        <a:rPr lang="en-US" sz="2300">
                          <a:solidFill>
                            <a:srgbClr val="FFFFFF"/>
                          </a:solidFill>
                          <a:latin typeface="Poppins"/>
                          <a:ea typeface="Poppins"/>
                          <a:cs typeface="Poppins"/>
                          <a:sym typeface="Poppins"/>
                        </a:rPr>
                        <a:t>极大上下文窗口（能处理更长的文本与大文档），适合长文档分析、研究、法律条款或复杂文本生成。</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Generally more stable in deep understanding, logical coherence, and long responses.</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通常在深度理解、逻辑连贯性和长篇回应上表现更稳定。</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6127790" y="150221"/>
            <a:ext cx="6032421" cy="10382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WenQuanYi"/>
                <a:ea typeface="WenQuanYi"/>
                <a:cs typeface="WenQuanYi"/>
                <a:sym typeface="WenQuanYi"/>
              </a:rPr>
              <a:t>Claude VS Gemini</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5205B"/>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516242"/>
          <a:ext cx="16571879" cy="8178192"/>
        </p:xfrm>
        <a:graphic>
          <a:graphicData uri="http://schemas.openxmlformats.org/drawingml/2006/table">
            <a:tbl>
              <a:tblPr/>
              <a:tblGrid>
                <a:gridCol w="2778027"/>
                <a:gridCol w="7162251"/>
                <a:gridCol w="6631601"/>
              </a:tblGrid>
              <a:tr h="1563365">
                <a:tc>
                  <a:txBody>
                    <a:bodyPr anchor="t" rtlCol="false"/>
                    <a:lstStyle/>
                    <a:p>
                      <a:pPr algn="ctr">
                        <a:lnSpc>
                          <a:spcPts val="349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Gemini </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Claude (Win)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6614827">
                <a:tc>
                  <a:txBody>
                    <a:bodyPr anchor="t" rtlCol="false"/>
                    <a:lstStyle/>
                    <a:p>
                      <a:pPr algn="ctr">
                        <a:lnSpc>
                          <a:spcPts val="3220"/>
                        </a:lnSpc>
                        <a:defRPr/>
                      </a:pPr>
                      <a:r>
                        <a:rPr lang="en-US" sz="2300">
                          <a:solidFill>
                            <a:srgbClr val="FFFFFF"/>
                          </a:solidFill>
                          <a:latin typeface="Poppins"/>
                          <a:ea typeface="Poppins"/>
                          <a:cs typeface="Poppins"/>
                          <a:sym typeface="Poppins"/>
                        </a:rPr>
                        <a:t>Security and Ethics</a:t>
                      </a:r>
                      <a:endParaRPr lang="en-US" sz="1100"/>
                    </a:p>
                    <a:p>
                      <a:pPr algn="ctr">
                        <a:lnSpc>
                          <a:spcPts val="3220"/>
                        </a:lnSpc>
                      </a:pPr>
                    </a:p>
                    <a:p>
                      <a:pPr algn="ctr">
                        <a:lnSpc>
                          <a:spcPts val="3220"/>
                        </a:lnSpc>
                      </a:pPr>
                      <a:r>
                        <a:rPr lang="en-US" sz="2300">
                          <a:solidFill>
                            <a:srgbClr val="FFFFFF"/>
                          </a:solidFill>
                          <a:latin typeface="Poppins"/>
                          <a:ea typeface="Poppins"/>
                          <a:cs typeface="Poppins"/>
                          <a:sym typeface="Poppins"/>
                        </a:rPr>
                        <a:t>安全性与伦理</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While it also has security mechanisms, its design leans more towards versatility and performance, sometimes avoiding sensitive topics as conservatively as Claude.</a:t>
                      </a:r>
                      <a:endParaRPr lang="en-US" sz="1100"/>
                    </a:p>
                    <a:p>
                      <a:pPr algn="ctr" marL="496571" indent="-248285" lvl="1">
                        <a:lnSpc>
                          <a:spcPts val="3220"/>
                        </a:lnSpc>
                        <a:buFont typeface="Arial"/>
                        <a:buChar char="•"/>
                      </a:pPr>
                      <a:r>
                        <a:rPr lang="en-US" sz="2300">
                          <a:solidFill>
                            <a:srgbClr val="FFFFFF"/>
                          </a:solidFill>
                          <a:latin typeface="Poppins"/>
                          <a:ea typeface="Poppins"/>
                          <a:cs typeface="Poppins"/>
                          <a:sym typeface="Poppins"/>
                        </a:rPr>
                        <a:t>虽然也有安全机制，但设计更偏向通用性与性能，有时候在敏感话题上回避不如 Claude 保守</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Emphasizes AI Alignment and Security, with minimizing harmful or inappropriate output as a core design principle.</a:t>
                      </a:r>
                      <a:endParaRPr lang="en-US" sz="1100"/>
                    </a:p>
                    <a:p>
                      <a:pPr algn="ctr">
                        <a:lnSpc>
                          <a:spcPts val="3220"/>
                        </a:lnSpc>
                      </a:pPr>
                      <a:r>
                        <a:rPr lang="en-US" sz="2300">
                          <a:solidFill>
                            <a:srgbClr val="FFFFFF"/>
                          </a:solidFill>
                          <a:latin typeface="Poppins"/>
                          <a:ea typeface="Poppins"/>
                          <a:cs typeface="Poppins"/>
                          <a:sym typeface="Poppins"/>
                        </a:rPr>
                        <a:t>强调 AI Alignment 与安全性，以减少产生有害或不当输出为设计核心。</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The </a:t>
                      </a:r>
                      <a:r>
                        <a:rPr lang="en-US" sz="2300">
                          <a:solidFill>
                            <a:srgbClr val="FFFFFF"/>
                          </a:solidFill>
                          <a:latin typeface="Poppins"/>
                          <a:ea typeface="Poppins"/>
                          <a:cs typeface="Poppins"/>
                          <a:sym typeface="Poppins"/>
                        </a:rPr>
                        <a:t>enterprise version offers privacy controls and compliance options (e.g., GDPR/HIPAA).</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企业版具备隐私控制、合规（例如 GDPR/HIPAA 等）选项。</a:t>
                      </a:r>
                    </a:p>
                    <a:p>
                      <a:pPr algn="ctr">
                        <a:lnSpc>
                          <a:spcPts val="3220"/>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6127790" y="150221"/>
            <a:ext cx="6032421" cy="10382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WenQuanYi"/>
                <a:ea typeface="WenQuanYi"/>
                <a:cs typeface="WenQuanYi"/>
                <a:sym typeface="WenQuanYi"/>
              </a:rPr>
              <a:t>Claude VS Gemini</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5205B"/>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516242"/>
          <a:ext cx="16571879" cy="8178192"/>
        </p:xfrm>
        <a:graphic>
          <a:graphicData uri="http://schemas.openxmlformats.org/drawingml/2006/table">
            <a:tbl>
              <a:tblPr/>
              <a:tblGrid>
                <a:gridCol w="2973494"/>
                <a:gridCol w="6966785"/>
                <a:gridCol w="6631601"/>
              </a:tblGrid>
              <a:tr h="1563365">
                <a:tc>
                  <a:txBody>
                    <a:bodyPr anchor="t" rtlCol="false"/>
                    <a:lstStyle/>
                    <a:p>
                      <a:pPr algn="ctr">
                        <a:lnSpc>
                          <a:spcPts val="349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Gemini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Claude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6614827">
                <a:tc>
                  <a:txBody>
                    <a:bodyPr anchor="t" rtlCol="false"/>
                    <a:lstStyle/>
                    <a:p>
                      <a:pPr algn="ctr">
                        <a:lnSpc>
                          <a:spcPts val="3220"/>
                        </a:lnSpc>
                        <a:defRPr/>
                      </a:pPr>
                      <a:r>
                        <a:rPr lang="en-US" sz="2300">
                          <a:solidFill>
                            <a:srgbClr val="FFFFFF"/>
                          </a:solidFill>
                          <a:latin typeface="Poppins"/>
                          <a:ea typeface="Poppins"/>
                          <a:cs typeface="Poppins"/>
                          <a:sym typeface="Poppins"/>
                        </a:rPr>
                        <a:t>Ecosystem &amp; Integration</a:t>
                      </a:r>
                      <a:endParaRPr lang="en-US" sz="1100"/>
                    </a:p>
                    <a:p>
                      <a:pPr algn="ctr">
                        <a:lnSpc>
                          <a:spcPts val="3220"/>
                        </a:lnSpc>
                      </a:pPr>
                    </a:p>
                    <a:p>
                      <a:pPr algn="ctr">
                        <a:lnSpc>
                          <a:spcPts val="3220"/>
                        </a:lnSpc>
                      </a:pPr>
                      <a:r>
                        <a:rPr lang="en-US" sz="2300">
                          <a:solidFill>
                            <a:srgbClr val="FFFFFF"/>
                          </a:solidFill>
                          <a:latin typeface="Poppins"/>
                          <a:ea typeface="Poppins"/>
                          <a:cs typeface="Poppins"/>
                          <a:sym typeface="Poppins"/>
                        </a:rPr>
                        <a:t>生态与集成</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Fully integrated with Google Workspace, Cloud &amp; Search: such as automatically generating Gmail drafts, Docs summaries, Sheets formulas, etc.</a:t>
                      </a:r>
                      <a:endParaRPr lang="en-US" sz="1100"/>
                    </a:p>
                    <a:p>
                      <a:pPr algn="ctr" marL="496571" indent="-248285" lvl="1">
                        <a:lnSpc>
                          <a:spcPts val="3220"/>
                        </a:lnSpc>
                        <a:buFont typeface="Arial"/>
                        <a:buChar char="•"/>
                      </a:pPr>
                      <a:r>
                        <a:rPr lang="en-US" sz="2300">
                          <a:solidFill>
                            <a:srgbClr val="FFFFFF"/>
                          </a:solidFill>
                          <a:latin typeface="Poppins"/>
                          <a:ea typeface="Poppins"/>
                          <a:cs typeface="Poppins"/>
                          <a:sym typeface="Poppins"/>
                        </a:rPr>
                        <a:t>与 Google Workspace、Cloud &amp; Search 完整整合：如自动生成 Gmail 草稿、Docs 概要、Sheets 公式等。</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Developers can deeply embed it into various applications through Vertex AI &amp; SDK.</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开发者可通过 Vertex AI &amp; SDK 深度嵌入各种应用。</a:t>
                      </a:r>
                    </a:p>
                    <a:p>
                      <a:pPr algn="ctr">
                        <a:lnSpc>
                          <a:spcPts val="3220"/>
                        </a:lnSpc>
                      </a:pP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More favored in enterprise compliance and industry-specific scenarios (such as legal/medical documents).</a:t>
                      </a:r>
                      <a:endParaRPr lang="en-US" sz="1100"/>
                    </a:p>
                    <a:p>
                      <a:pPr algn="ctr" marL="496571" indent="-248285" lvl="1">
                        <a:lnSpc>
                          <a:spcPts val="3220"/>
                        </a:lnSpc>
                        <a:buFont typeface="Arial"/>
                        <a:buChar char="•"/>
                      </a:pPr>
                      <a:r>
                        <a:rPr lang="en-US" sz="2300">
                          <a:solidFill>
                            <a:srgbClr val="FFFFFF"/>
                          </a:solidFill>
                          <a:latin typeface="Poppins"/>
                          <a:ea typeface="Poppins"/>
                          <a:cs typeface="Poppins"/>
                          <a:sym typeface="Poppins"/>
                        </a:rPr>
                        <a:t>在企业合规、行业特定场景（如法律/医疗文档）中更受青睐。</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Also provides API &amp; integration options (such as Slack).</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也提供 API &amp; 集成选项（如 Slack）。</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6127790" y="150221"/>
            <a:ext cx="6032421" cy="10382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WenQuanYi"/>
                <a:ea typeface="WenQuanYi"/>
                <a:cs typeface="WenQuanYi"/>
                <a:sym typeface="WenQuanYi"/>
              </a:rPr>
              <a:t>Claude VS Gemini</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5205B"/>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516242"/>
          <a:ext cx="16571879" cy="8178192"/>
        </p:xfrm>
        <a:graphic>
          <a:graphicData uri="http://schemas.openxmlformats.org/drawingml/2006/table">
            <a:tbl>
              <a:tblPr/>
              <a:tblGrid>
                <a:gridCol w="3095660"/>
                <a:gridCol w="6844618"/>
                <a:gridCol w="6631601"/>
              </a:tblGrid>
              <a:tr h="1563365">
                <a:tc>
                  <a:txBody>
                    <a:bodyPr anchor="t" rtlCol="false"/>
                    <a:lstStyle/>
                    <a:p>
                      <a:pPr algn="ctr">
                        <a:lnSpc>
                          <a:spcPts val="3499"/>
                        </a:lnSpc>
                        <a:defRPr/>
                      </a:pP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Gemini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499"/>
                        </a:lnSpc>
                        <a:defRPr/>
                      </a:pPr>
                      <a:r>
                        <a:rPr lang="en-US" sz="2499" b="true">
                          <a:solidFill>
                            <a:srgbClr val="FFFFFF"/>
                          </a:solidFill>
                          <a:latin typeface="Poppins Bold"/>
                          <a:ea typeface="Poppins Bold"/>
                          <a:cs typeface="Poppins Bold"/>
                          <a:sym typeface="Poppins Bold"/>
                        </a:rPr>
                        <a:t>Claude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6614827">
                <a:tc>
                  <a:txBody>
                    <a:bodyPr anchor="t" rtlCol="false"/>
                    <a:lstStyle/>
                    <a:p>
                      <a:pPr algn="ctr">
                        <a:lnSpc>
                          <a:spcPts val="3220"/>
                        </a:lnSpc>
                        <a:defRPr/>
                      </a:pPr>
                      <a:r>
                        <a:rPr lang="en-US" sz="2300">
                          <a:solidFill>
                            <a:srgbClr val="FFFFFF"/>
                          </a:solidFill>
                          <a:latin typeface="Poppins"/>
                          <a:ea typeface="Poppins"/>
                          <a:cs typeface="Poppins"/>
                          <a:sym typeface="Poppins"/>
                        </a:rPr>
                        <a:t>User Experience &amp; Output Style</a:t>
                      </a:r>
                      <a:endParaRPr lang="en-US" sz="1100"/>
                    </a:p>
                    <a:p>
                      <a:pPr algn="ctr">
                        <a:lnSpc>
                          <a:spcPts val="3220"/>
                        </a:lnSpc>
                      </a:pPr>
                    </a:p>
                    <a:p>
                      <a:pPr algn="ctr">
                        <a:lnSpc>
                          <a:spcPts val="3220"/>
                        </a:lnSpc>
                      </a:pPr>
                      <a:r>
                        <a:rPr lang="en-US" sz="2300">
                          <a:solidFill>
                            <a:srgbClr val="FFFFFF"/>
                          </a:solidFill>
                          <a:latin typeface="Poppins"/>
                          <a:ea typeface="Poppins"/>
                          <a:cs typeface="Poppins"/>
                          <a:sym typeface="Poppins"/>
                        </a:rPr>
                        <a:t>使用体验 &amp; 输出风格</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Typically faster, more practical, and concise, with a clear advantage in everyday tasks and search-based question answering.</a:t>
                      </a:r>
                      <a:endParaRPr lang="en-US" sz="1100"/>
                    </a:p>
                    <a:p>
                      <a:pPr algn="ctr" marL="496571" indent="-248285" lvl="1">
                        <a:lnSpc>
                          <a:spcPts val="3220"/>
                        </a:lnSpc>
                        <a:buFont typeface="Arial"/>
                        <a:buChar char="•"/>
                      </a:pPr>
                      <a:r>
                        <a:rPr lang="en-US" sz="2300">
                          <a:solidFill>
                            <a:srgbClr val="FFFFFF"/>
                          </a:solidFill>
                          <a:latin typeface="Poppins"/>
                          <a:ea typeface="Poppins"/>
                          <a:cs typeface="Poppins"/>
                          <a:sym typeface="Poppins"/>
                        </a:rPr>
                        <a:t>通常 更快、实用、简洁，在日常任务和搜索类问答中优势明显。</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Multimodal input makes it even more advantageous in image or cross-media scenarios.</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多模态输入让它在图像或跨媒体场景更有优势。</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marL="496571" indent="-248285" lvl="1">
                        <a:lnSpc>
                          <a:spcPts val="3220"/>
                        </a:lnSpc>
                        <a:buFont typeface="Arial"/>
                        <a:buChar char="•"/>
                        <a:defRPr/>
                      </a:pPr>
                      <a:r>
                        <a:rPr lang="en-US" sz="2300">
                          <a:solidFill>
                            <a:srgbClr val="FFFFFF"/>
                          </a:solidFill>
                          <a:latin typeface="Poppins"/>
                          <a:ea typeface="Poppins"/>
                          <a:cs typeface="Poppins"/>
                          <a:sym typeface="Poppins"/>
                        </a:rPr>
                        <a:t>Answer style is typically cautious, meticulous, and logically clear.</a:t>
                      </a:r>
                      <a:endParaRPr lang="en-US" sz="1100"/>
                    </a:p>
                    <a:p>
                      <a:pPr algn="ctr" marL="496571" indent="-248285" lvl="1">
                        <a:lnSpc>
                          <a:spcPts val="3220"/>
                        </a:lnSpc>
                        <a:buFont typeface="Arial"/>
                        <a:buChar char="•"/>
                      </a:pPr>
                      <a:r>
                        <a:rPr lang="en-US" sz="2300">
                          <a:solidFill>
                            <a:srgbClr val="FFFFFF"/>
                          </a:solidFill>
                          <a:latin typeface="Poppins"/>
                          <a:ea typeface="Poppins"/>
                          <a:cs typeface="Poppins"/>
                          <a:sym typeface="Poppins"/>
                        </a:rPr>
                        <a:t>回答风格通常 谨慎、细致、逻辑清晰。</a:t>
                      </a:r>
                    </a:p>
                    <a:p>
                      <a:pPr algn="ctr">
                        <a:lnSpc>
                          <a:spcPts val="3220"/>
                        </a:lnSpc>
                      </a:pPr>
                    </a:p>
                    <a:p>
                      <a:pPr algn="ctr" marL="496571" indent="-248285" lvl="1">
                        <a:lnSpc>
                          <a:spcPts val="3220"/>
                        </a:lnSpc>
                        <a:buFont typeface="Arial"/>
                        <a:buChar char="•"/>
                      </a:pPr>
                      <a:r>
                        <a:rPr lang="en-US" sz="2300">
                          <a:solidFill>
                            <a:srgbClr val="FFFFFF"/>
                          </a:solidFill>
                          <a:latin typeface="Poppins"/>
                          <a:ea typeface="Poppins"/>
                          <a:cs typeface="Poppins"/>
                          <a:sym typeface="Poppins"/>
                        </a:rPr>
                        <a:t>Excels in handling complex writing, papers, or long passages.</a:t>
                      </a:r>
                    </a:p>
                    <a:p>
                      <a:pPr algn="ctr" marL="496571" indent="-248285" lvl="1">
                        <a:lnSpc>
                          <a:spcPts val="3220"/>
                        </a:lnSpc>
                        <a:buFont typeface="Arial"/>
                        <a:buChar char="•"/>
                      </a:pPr>
                      <a:r>
                        <a:rPr lang="en-US" sz="2300">
                          <a:solidFill>
                            <a:srgbClr val="FFFFFF"/>
                          </a:solidFill>
                          <a:latin typeface="Poppins"/>
                          <a:ea typeface="Poppins"/>
                          <a:cs typeface="Poppins"/>
                          <a:sym typeface="Poppins"/>
                        </a:rPr>
                        <a:t>处理复杂写作、论文或长段内容时表现优异。</a:t>
                      </a:r>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3" id="3"/>
          <p:cNvSpPr txBox="true"/>
          <p:nvPr/>
        </p:nvSpPr>
        <p:spPr>
          <a:xfrm rot="0">
            <a:off x="6127790" y="150221"/>
            <a:ext cx="6032421" cy="10382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WenQuanYi"/>
                <a:ea typeface="WenQuanYi"/>
                <a:cs typeface="WenQuanYi"/>
                <a:sym typeface="WenQuanYi"/>
              </a:rPr>
              <a:t>Claude VS Gemini</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5205B"/>
        </a:solidFill>
      </p:bgPr>
    </p:bg>
    <p:spTree>
      <p:nvGrpSpPr>
        <p:cNvPr id="1" name=""/>
        <p:cNvGrpSpPr/>
        <p:nvPr/>
      </p:nvGrpSpPr>
      <p:grpSpPr>
        <a:xfrm>
          <a:off x="0" y="0"/>
          <a:ext cx="0" cy="0"/>
          <a:chOff x="0" y="0"/>
          <a:chExt cx="0" cy="0"/>
        </a:xfrm>
      </p:grpSpPr>
      <p:sp>
        <p:nvSpPr>
          <p:cNvPr name="TextBox 2" id="2"/>
          <p:cNvSpPr txBox="true"/>
          <p:nvPr/>
        </p:nvSpPr>
        <p:spPr>
          <a:xfrm rot="0">
            <a:off x="4140755" y="447675"/>
            <a:ext cx="10006489" cy="10382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WenQuanYi"/>
                <a:ea typeface="WenQuanYi"/>
                <a:cs typeface="WenQuanYi"/>
                <a:sym typeface="WenQuanYi"/>
              </a:rPr>
              <a:t>Claude VS Gemini Conclusion</a:t>
            </a:r>
          </a:p>
        </p:txBody>
      </p:sp>
      <p:sp>
        <p:nvSpPr>
          <p:cNvPr name="TextBox 3" id="3"/>
          <p:cNvSpPr txBox="true"/>
          <p:nvPr/>
        </p:nvSpPr>
        <p:spPr>
          <a:xfrm rot="0">
            <a:off x="2867858" y="2060030"/>
            <a:ext cx="12552284" cy="7197725"/>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FFFFFF"/>
                </a:solidFill>
                <a:latin typeface="WenQuanYi"/>
                <a:ea typeface="WenQuanYi"/>
                <a:cs typeface="WenQuanYi"/>
                <a:sym typeface="WenQuanYi"/>
              </a:rPr>
              <a:t>Cla</a:t>
            </a:r>
            <a:r>
              <a:rPr lang="en-US" sz="3000">
                <a:solidFill>
                  <a:srgbClr val="FFFFFF"/>
                </a:solidFill>
                <a:latin typeface="WenQuanYi"/>
                <a:ea typeface="WenQuanYi"/>
                <a:cs typeface="WenQuanYi"/>
                <a:sym typeface="WenQuanYi"/>
              </a:rPr>
              <a:t>ude's Advantages:</a:t>
            </a:r>
          </a:p>
          <a:p>
            <a:pPr algn="just">
              <a:lnSpc>
                <a:spcPts val="3499"/>
              </a:lnSpc>
              <a:spcBef>
                <a:spcPct val="0"/>
              </a:spcBef>
            </a:pPr>
            <a:r>
              <a:rPr lang="en-US" sz="2499">
                <a:solidFill>
                  <a:srgbClr val="FFFFFF"/>
                </a:solidFill>
                <a:latin typeface="WenQuanYi"/>
                <a:ea typeface="WenQuanYi"/>
                <a:cs typeface="WenQuanYi"/>
                <a:sym typeface="WenQuanYi"/>
              </a:rPr>
              <a:t>✔ Safer and more ethical</a:t>
            </a:r>
          </a:p>
          <a:p>
            <a:pPr algn="just">
              <a:lnSpc>
                <a:spcPts val="3499"/>
              </a:lnSpc>
              <a:spcBef>
                <a:spcPct val="0"/>
              </a:spcBef>
            </a:pPr>
            <a:r>
              <a:rPr lang="en-US" sz="2499">
                <a:solidFill>
                  <a:srgbClr val="FFFFFF"/>
                </a:solidFill>
                <a:latin typeface="WenQuanYi"/>
                <a:ea typeface="WenQuanYi"/>
                <a:cs typeface="WenQuanYi"/>
                <a:sym typeface="WenQuanYi"/>
              </a:rPr>
              <a:t> ✔ 更安全、伦理优先</a:t>
            </a:r>
          </a:p>
          <a:p>
            <a:pPr algn="just">
              <a:lnSpc>
                <a:spcPts val="3499"/>
              </a:lnSpc>
              <a:spcBef>
                <a:spcPct val="0"/>
              </a:spcBef>
            </a:pPr>
            <a:r>
              <a:rPr lang="en-US" sz="2499">
                <a:solidFill>
                  <a:srgbClr val="FFFFFF"/>
                </a:solidFill>
                <a:latin typeface="WenQuanYi"/>
                <a:ea typeface="WenQuanYi"/>
                <a:cs typeface="WenQuanYi"/>
                <a:sym typeface="WenQuanYi"/>
              </a:rPr>
              <a:t>✔ Excellent understanding of long contexts and large documents</a:t>
            </a:r>
          </a:p>
          <a:p>
            <a:pPr algn="just">
              <a:lnSpc>
                <a:spcPts val="3499"/>
              </a:lnSpc>
              <a:spcBef>
                <a:spcPct val="0"/>
              </a:spcBef>
            </a:pPr>
            <a:r>
              <a:rPr lang="en-US" sz="2499">
                <a:solidFill>
                  <a:srgbClr val="FFFFFF"/>
                </a:solidFill>
                <a:latin typeface="WenQuanYi"/>
                <a:ea typeface="WenQuanYi"/>
                <a:cs typeface="WenQuanYi"/>
                <a:sym typeface="WenQuanYi"/>
              </a:rPr>
              <a:t> ✔ 超长上下文与大文档理解</a:t>
            </a:r>
          </a:p>
          <a:p>
            <a:pPr algn="just">
              <a:lnSpc>
                <a:spcPts val="3499"/>
              </a:lnSpc>
              <a:spcBef>
                <a:spcPct val="0"/>
              </a:spcBef>
            </a:pPr>
            <a:r>
              <a:rPr lang="en-US" sz="2499">
                <a:solidFill>
                  <a:srgbClr val="FFFFFF"/>
                </a:solidFill>
                <a:latin typeface="WenQuanYi"/>
                <a:ea typeface="WenQuanYi"/>
                <a:cs typeface="WenQuanYi"/>
                <a:sym typeface="WenQuanYi"/>
              </a:rPr>
              <a:t>✔ Better suited for compliance-critical, professional writing and research analysis</a:t>
            </a:r>
          </a:p>
          <a:p>
            <a:pPr algn="just">
              <a:lnSpc>
                <a:spcPts val="3499"/>
              </a:lnSpc>
              <a:spcBef>
                <a:spcPct val="0"/>
              </a:spcBef>
            </a:pPr>
            <a:r>
              <a:rPr lang="en-US" sz="2499">
                <a:solidFill>
                  <a:srgbClr val="FFFFFF"/>
                </a:solidFill>
                <a:latin typeface="WenQuanYi"/>
                <a:ea typeface="WenQuanYi"/>
                <a:cs typeface="WenQuanYi"/>
                <a:sym typeface="WenQuanYi"/>
              </a:rPr>
              <a:t> ✔ 更适合合规性强、专业写作与研究分析</a:t>
            </a:r>
          </a:p>
          <a:p>
            <a:pPr algn="just">
              <a:lnSpc>
                <a:spcPts val="3499"/>
              </a:lnSpc>
              <a:spcBef>
                <a:spcPct val="0"/>
              </a:spcBef>
            </a:pPr>
          </a:p>
          <a:p>
            <a:pPr algn="just" marL="647700" indent="-323850" lvl="1">
              <a:lnSpc>
                <a:spcPts val="4200"/>
              </a:lnSpc>
              <a:buFont typeface="Arial"/>
              <a:buChar char="•"/>
            </a:pPr>
            <a:r>
              <a:rPr lang="en-US" sz="3000">
                <a:solidFill>
                  <a:srgbClr val="FFFFFF"/>
                </a:solidFill>
                <a:latin typeface="WenQuanYi"/>
                <a:ea typeface="WenQuanYi"/>
                <a:cs typeface="WenQuanYi"/>
                <a:sym typeface="WenQuanYi"/>
              </a:rPr>
              <a:t>Gemini 的优势</a:t>
            </a:r>
          </a:p>
          <a:p>
            <a:pPr algn="just">
              <a:lnSpc>
                <a:spcPts val="3499"/>
              </a:lnSpc>
            </a:pPr>
            <a:r>
              <a:rPr lang="en-US" sz="2499">
                <a:solidFill>
                  <a:srgbClr val="FFFFFF"/>
                </a:solidFill>
                <a:latin typeface="WenQuanYi"/>
                <a:ea typeface="WenQuanYi"/>
                <a:cs typeface="WenQuanYi"/>
                <a:sym typeface="WenQuanYi"/>
              </a:rPr>
              <a:t>✔ Multimodal input (images, audio, video) and real-time connectivity</a:t>
            </a:r>
          </a:p>
          <a:p>
            <a:pPr algn="just">
              <a:lnSpc>
                <a:spcPts val="3499"/>
              </a:lnSpc>
              <a:spcBef>
                <a:spcPct val="0"/>
              </a:spcBef>
            </a:pPr>
            <a:r>
              <a:rPr lang="en-US" sz="2499">
                <a:solidFill>
                  <a:srgbClr val="FFFFFF"/>
                </a:solidFill>
                <a:latin typeface="WenQuanYi"/>
                <a:ea typeface="WenQuanYi"/>
                <a:cs typeface="WenQuanYi"/>
                <a:sym typeface="WenQuanYi"/>
              </a:rPr>
              <a:t> ✔ 多模态输入（图像、音频、视频）与实时联网</a:t>
            </a:r>
          </a:p>
          <a:p>
            <a:pPr algn="just">
              <a:lnSpc>
                <a:spcPts val="3499"/>
              </a:lnSpc>
              <a:spcBef>
                <a:spcPct val="0"/>
              </a:spcBef>
            </a:pPr>
            <a:r>
              <a:rPr lang="en-US" sz="2499">
                <a:solidFill>
                  <a:srgbClr val="FFFFFF"/>
                </a:solidFill>
                <a:latin typeface="WenQuanYi"/>
                <a:ea typeface="WenQuanYi"/>
                <a:cs typeface="WenQuanYi"/>
                <a:sym typeface="WenQuanYi"/>
              </a:rPr>
              <a:t>✔ Deep integration with the Google ecosystem</a:t>
            </a:r>
          </a:p>
          <a:p>
            <a:pPr algn="just">
              <a:lnSpc>
                <a:spcPts val="3499"/>
              </a:lnSpc>
              <a:spcBef>
                <a:spcPct val="0"/>
              </a:spcBef>
            </a:pPr>
            <a:r>
              <a:rPr lang="en-US" sz="2499">
                <a:solidFill>
                  <a:srgbClr val="FFFFFF"/>
                </a:solidFill>
                <a:latin typeface="WenQuanYi"/>
                <a:ea typeface="WenQuanYi"/>
                <a:cs typeface="WenQuanYi"/>
                <a:sym typeface="WenQuanYi"/>
              </a:rPr>
              <a:t> ✔ 与 Google 生态深度整合</a:t>
            </a:r>
          </a:p>
          <a:p>
            <a:pPr algn="just">
              <a:lnSpc>
                <a:spcPts val="3499"/>
              </a:lnSpc>
              <a:spcBef>
                <a:spcPct val="0"/>
              </a:spcBef>
            </a:pPr>
            <a:r>
              <a:rPr lang="en-US" sz="2499">
                <a:solidFill>
                  <a:srgbClr val="FFFFFF"/>
                </a:solidFill>
                <a:latin typeface="WenQuanYi"/>
                <a:ea typeface="WenQuanYi"/>
                <a:cs typeface="WenQuanYi"/>
                <a:sym typeface="WenQuanYi"/>
              </a:rPr>
              <a:t>✔ Suitable for general question answering, productivity tools, and ecosystem expansion</a:t>
            </a:r>
          </a:p>
          <a:p>
            <a:pPr algn="just">
              <a:lnSpc>
                <a:spcPts val="3499"/>
              </a:lnSpc>
              <a:spcBef>
                <a:spcPct val="0"/>
              </a:spcBef>
            </a:pPr>
            <a:r>
              <a:rPr lang="en-US" sz="2499">
                <a:solidFill>
                  <a:srgbClr val="FFFFFF"/>
                </a:solidFill>
                <a:latin typeface="WenQuanYi"/>
                <a:ea typeface="WenQuanYi"/>
                <a:cs typeface="WenQuanYi"/>
                <a:sym typeface="WenQuanYi"/>
              </a:rPr>
              <a:t> ✔ 适合通用问题回答、生产力工具辅助与开发生态生态扩展</a:t>
            </a:r>
          </a:p>
          <a:p>
            <a:pPr algn="just">
              <a:lnSpc>
                <a:spcPts val="349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DAGpc-LBtuA</dc:identifier>
  <dcterms:modified xsi:type="dcterms:W3CDTF">2011-08-01T06:04:30Z</dcterms:modified>
  <cp:revision>1</cp:revision>
  <dc:title>AI -- Claude VS Gemini</dc:title>
</cp:coreProperties>
</file>